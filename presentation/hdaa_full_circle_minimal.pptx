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66666"/>
                </a:solidFill>
              </a:defRPr>
            </a:pPr>
            <a:r>
              <a:t>The Full Circle: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33333"/>
                </a:solidFill>
              </a:defRPr>
            </a:pPr>
            <a:r>
              <a:t>From SQL Chaos to Self-Service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</a:defRPr>
            </a:pPr>
            <a:r>
              <a:t>How Every User Question Builds Your Certified Data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Sunny Zheng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HDAA Annual Conference  |  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About the Speaker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</a:rPr>
              <a:t>BI Management Leader</a:t>
            </a:r>
            <a:r>
              <a:rPr sz="1800">
                <a:solidFill>
                  <a:srgbClr val="333333"/>
                </a:solidFill>
              </a:rPr>
              <a:t> in Healthcare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</a:rPr>
              <a:t>15+ years</a:t>
            </a:r>
            <a:r>
              <a:rPr sz="1800">
                <a:solidFill>
                  <a:srgbClr val="333333"/>
                </a:solidFill>
              </a:rPr>
              <a:t> turning data into decisions for clinical and operational teams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</a:rPr>
              <a:t>Microsoft Fabric ecosystem</a:t>
            </a:r>
            <a:r>
              <a:rPr sz="1800">
                <a:solidFill>
                  <a:srgbClr val="333333"/>
                </a:solidFill>
              </a:rPr>
              <a:t> — Power BI, Data Agent, Notebooks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</a:rPr>
              <a:t>Focused on</a:t>
            </a:r>
            <a:r>
              <a:rPr sz="1800">
                <a:solidFill>
                  <a:srgbClr val="333333"/>
                </a:solidFill>
              </a:rPr>
              <a:t> making analytics self-service without sacrificing accuracy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</a:rPr>
              <a:t>Passionate about</a:t>
            </a:r>
            <a:r>
              <a:rPr sz="1800">
                <a:solidFill>
                  <a:srgbClr val="333333"/>
                </a:solidFill>
              </a:rPr>
              <a:t> making governance disappear into the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- 1,000+ reports and queries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- Business logic buried in code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- Users waiting weeks for answers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- Governance slowing everyone 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</a:rPr>
              <a:t>- 1. The Problem: Why Governance Feels Like a Tax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</a:rPr>
              <a:t>- 2. The Idea: What If Usage Drove Governance?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</a:rPr>
              <a:t>- 3. Building the Foundation: From Existing SQL to a Certified Knowledge Base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</a:rPr>
              <a:t>- 4. The Flywheel: Ask, Answer, Certify, Grow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</a:rPr>
              <a:t>- 5. Case Study: First Case On Time Start (FCOTS)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</a:rPr>
              <a:t>- 6. The Growing Knowledge Base: Governance as a Byproduct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</a:rPr>
              <a:t>- 7. Delivering Value: Self-Service + Dashboards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</a:rPr>
              <a:t>- 8. Measuring the Impact: ROI That Compounds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</a:rPr>
              <a:t>- 9. Lessons Learned &amp;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The Problem: Why Governance Feels Like a 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6666"/>
                </a:solidFill>
              </a:defRPr>
            </a:pPr>
            <a:r>
              <a:t>Sound familiar?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"Can you pull me the readmission rate?" — 6-week backlog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Three analysts run the same metric, get three answers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Governance team creates definitions nobody uses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The more you govern, the slower everyone moves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So governance falls behind, definitions go stale, trust erodes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Result: governance and getting work done feel like opposites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The Vicious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Governance is slow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People work around it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Definitions go stale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Trust in data declines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More governance imposed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(repeat forever)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The Idea: What If Usage Drove Governance?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What if every question a user asks</a:t>
            </a:r>
            <a:br/>
            <a:r>
              <a:t>makes your data foundation stronger?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Instead of governance being a gate people pass through,</a:t>
            </a:r>
            <a:br/>
            <a:r>
              <a:t>it becomes a knowledge base that grows from demand.</a:t>
            </a:r>
            <a:br/>
            <a:br/>
            <a:r>
              <a:t>Every question either reinforces what we know</a:t>
            </a:r>
            <a:br/>
            <a:r>
              <a:t>or surfaces what we don't — and kicks off a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Governance is no longer a chore. It's a byproduct of people doing their jobs.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33333"/>
                </a:solidFill>
              </a:defRPr>
            </a:pPr>
            <a:r>
              <a:t>BUILDING THE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</a:defRPr>
            </a:pPr>
            <a:r>
              <a:t>From Existing SQL to a Certified Knowledge 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The Foundation: Your SQL Already Contains the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You don't start from scratch — your existing queries are the raw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Scan your existing reports and queries</a:t>
            </a:r>
            <a:r>
              <a:rPr sz="1700">
                <a:solidFill>
                  <a:srgbClr val="333333"/>
                </a:solidFill>
              </a:rPr>
              <a:t> — automatically extract the business logic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AI drafts plain-English definitions</a:t>
            </a:r>
            <a:r>
              <a:rPr sz="1700">
                <a:solidFill>
                  <a:srgbClr val="333333"/>
                </a:solidFill>
              </a:rPr>
              <a:t> from the logic it finds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Your team reviews in bulk</a:t>
            </a:r>
            <a:r>
              <a:rPr sz="1700">
                <a:solidFill>
                  <a:srgbClr val="333333"/>
                </a:solidFill>
              </a:rPr>
              <a:t> — not one definition at a time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Stewards certify</a:t>
            </a:r>
            <a:r>
              <a:rPr sz="1700">
                <a:solidFill>
                  <a:srgbClr val="333333"/>
                </a:solidFill>
              </a:rPr>
              <a:t> the business meaning: approve, modify, or reject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Result:</a:t>
            </a:r>
            <a:r>
              <a:rPr sz="1700">
                <a:solidFill>
                  <a:srgbClr val="333333"/>
                </a:solidFill>
              </a:rPr>
              <a:t> an initial certified knowledge base of your most-used metrics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This is the seed.</a:t>
            </a:r>
            <a:r>
              <a:rPr sz="1700">
                <a:solidFill>
                  <a:srgbClr val="333333"/>
                </a:solidFill>
              </a:rPr>
              <a:t> What makes it grow is what happens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Example: One report yields...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3774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Report: OR Efficiency Dashboard</a:t>
            </a:r>
            <a:br/>
            <a:br/>
            <a:r>
              <a:t>  3 business metrics found:</a:t>
            </a:r>
            <a:br/>
            <a:r>
              <a:t>    "First Case On Time Start"</a:t>
            </a:r>
            <a:br/>
            <a:r>
              <a:t>    "Turnover Time"</a:t>
            </a:r>
            <a:br/>
            <a:r>
              <a:t>    "Case Duration Accuracy"</a:t>
            </a:r>
            <a:br/>
            <a:br/>
            <a:r>
              <a:t>  Each linked to its source</a:t>
            </a:r>
            <a:br/>
            <a:r>
              <a:t>  tables and calculation logic</a:t>
            </a:r>
            <a:br/>
            <a:br/>
            <a:r>
              <a:t>  -&gt; Sent to stewards for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The Foundation: How the Knowledge Base Is Organized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Three layers connect business questions to source data — with full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</a:defRPr>
            </a:pPr>
            <a:r>
              <a:t>BUSINESS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t>Certified definitions (e.g., First Case On Time Start)</a:t>
            </a:r>
            <a:br/>
            <a:r>
              <a:t>Owned by a steward  |  Weighted by how often people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</a:defRPr>
            </a:pPr>
            <a: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</a:defRPr>
            </a:pPr>
            <a:r>
              <a:t>CALCULATION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t>The step-by-step logic behind each metric</a:t>
            </a:r>
            <a:br/>
            <a:r>
              <a:t>Small, reusable pieces — not giant SQL 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</a:defRPr>
            </a:pPr>
            <a: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</a:defRPr>
            </a:pPr>
            <a:r>
              <a:t>SOURCE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t>The actual tables, columns, and filters</a:t>
            </a:r>
            <a:br/>
            <a:r>
              <a:t>Enriched with plain-English descriptions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33333"/>
                </a:solidFill>
              </a:defRPr>
            </a:pPr>
            <a:r>
              <a:t>THE FLYWHEEL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</a:defRPr>
            </a:pPr>
            <a:r>
              <a:t>Ask, Answer, Certify, Grow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The Flywheel: Every Question Makes the System Smarter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USER ASKS A QUESTION</a:t>
            </a:r>
            <a:br/>
            <a:r>
              <a:t>        |</a:t>
            </a:r>
            <a:br/>
            <a:r>
              <a:t>        v</a:t>
            </a:r>
            <a:br/>
            <a:r>
              <a:t>AGENT ANSWERS  ------&gt;  KNOWLEDGE BASE GROWS</a:t>
            </a:r>
            <a:br/>
            <a:r>
              <a:t>        ^                       |</a:t>
            </a:r>
            <a:br/>
            <a:r>
              <a:t>        |                       v</a:t>
            </a:r>
            <a:br/>
            <a:r>
              <a:t>BETTER ANSWERS  &lt;------  MORE CERTIFIED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66666"/>
                </a:solidFill>
              </a:defRPr>
            </a:pPr>
            <a:r>
              <a:t>FULL CIRCLE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No governance committees. No spreadsheets. The knowledge base grows because people use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Two Paths: Every Question Has a Destination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When someone asks a question, one of two things happens: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PATH A: We Already Know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The answer exists in the certified knowledge base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User gets an instant, accurate answer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The metric gains weight — it's clearly important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Most-asked metrics become visible to leadership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High-demand metrics get promoted to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PATH B: We Don't Know This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The agent says "I don't have that yet"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A request is sent to the data steward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Steward reviews and certifies the definition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New metric added to the knowledge base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Next time anyone asks, they get an instant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Both paths make the system better. There is no wasted question.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33333"/>
                </a:solidFill>
              </a:defRPr>
            </a:pPr>
            <a: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</a:defRPr>
            </a:pPr>
            <a:r>
              <a:t>First Case On Time Start (FCOTS)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Case Study: First Case On Time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How one certified metric helped transform surgical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FCOTS =</a:t>
            </a:r>
            <a:r>
              <a:rPr sz="1700">
                <a:solidFill>
                  <a:srgbClr val="333333"/>
                </a:solidFill>
              </a:rPr>
              <a:t> % of first surgical cases that start on time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3 years ago:</a:t>
            </a:r>
            <a:r>
              <a:rPr sz="1700">
                <a:solidFill>
                  <a:srgbClr val="333333"/>
                </a:solidFill>
              </a:rPr>
              <a:t> our rate was just over 20%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Today:</a:t>
            </a:r>
            <a:r>
              <a:rPr sz="1700">
                <a:solidFill>
                  <a:srgbClr val="333333"/>
                </a:solidFill>
              </a:rPr>
              <a:t> we've reached 60%+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Goal:</a:t>
            </a:r>
            <a:r>
              <a:rPr sz="1700">
                <a:solidFill>
                  <a:srgbClr val="333333"/>
                </a:solidFill>
              </a:rPr>
              <a:t> 90%+ on-time start rate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Working with</a:t>
            </a:r>
            <a:r>
              <a:rPr sz="1700">
                <a:solidFill>
                  <a:srgbClr val="333333"/>
                </a:solidFill>
              </a:rPr>
              <a:t> the Surgery Medical Director to drive improvement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One certified definition,</a:t>
            </a:r>
            <a:r>
              <a:rPr sz="1700">
                <a:solidFill>
                  <a:srgbClr val="333333"/>
                </a:solidFill>
              </a:rPr>
              <a:t> one source of truth, consistent tracking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FCOTS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4688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</a:defRPr>
            </a:pPr>
            <a:r>
              <a:t>3 Years Ago:  20%+</a:t>
            </a:r>
            <a:br/>
            <a:br/>
            <a:r>
              <a:t>Today:        60%+</a:t>
            </a:r>
            <a:br/>
            <a:br/>
            <a:r>
              <a:t>Goal:         90%+</a:t>
            </a:r>
            <a:br/>
            <a:br/>
            <a:br/>
            <a:r>
              <a:t>This improvement was only possible</a:t>
            </a:r>
            <a:br/>
            <a:r>
              <a:t>because everyone trusted the same number.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FCOTS: Why This Metric Needs Self-Service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The Medical Director's challenge: individual performance is sensitive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Medical Director needs 1:1s with surgeons about their FCOTS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Can't share a dashboard showing everyone's performance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Individual surgeon data is sensitive — requires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The Self-Service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Surgeons ask the Data Agent: "What's my FCOTS rate?"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Each surgeon only sees their own data — built-in security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Medical Director sees the department-level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Same Metric, Right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Dr. Smith asks:</a:t>
            </a:r>
            <a:br/>
            <a:r>
              <a:t>  "What's my FCOTS this month?"</a:t>
            </a:r>
            <a:br/>
            <a:r>
              <a:t>  Answer: 78% (your cases only)</a:t>
            </a:r>
            <a:br/>
            <a:br/>
            <a:r>
              <a:t>Dr. Jones asks:</a:t>
            </a:r>
            <a:br/>
            <a:r>
              <a:t>  "What's my FCOTS this month?"</a:t>
            </a:r>
            <a:br/>
            <a:r>
              <a:t>  Answer: 62% (your cases only)</a:t>
            </a:r>
            <a:br/>
            <a:br/>
            <a:r>
              <a:t>Medical Director asks:</a:t>
            </a:r>
            <a:br/>
            <a:r>
              <a:t>  "Show me department FCOTS"</a:t>
            </a:r>
            <a:br/>
            <a:r>
              <a:t>  Answer: 68% overall + trends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33333"/>
                </a:solidFill>
              </a:defRPr>
            </a:pPr>
            <a:r>
              <a:t>One certified definition. Personalized access. No IT tickets. No privacy concerns.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FCOTS: The Full Circle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What happens when surgeons start using the agent regularly: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Surgeons ask about their FCOTS</a:t>
            </a:r>
            <a:r>
              <a:rPr sz="1700">
                <a:solidFill>
                  <a:srgbClr val="333333"/>
                </a:solidFill>
              </a:rPr>
              <a:t> — the metric gains weight in the system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Some ask new questions:</a:t>
            </a:r>
            <a:r>
              <a:rPr sz="1700">
                <a:solidFill>
                  <a:srgbClr val="333333"/>
                </a:solidFill>
              </a:rPr>
              <a:t> "What's my average delay time?" "Which rooms start late most?"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Those questions trigger</a:t>
            </a:r>
            <a:r>
              <a:rPr sz="1700">
                <a:solidFill>
                  <a:srgbClr val="333333"/>
                </a:solidFill>
              </a:rPr>
              <a:t> steward review — new metrics get certified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The knowledge base grows</a:t>
            </a:r>
            <a:r>
              <a:rPr sz="1700">
                <a:solidFill>
                  <a:srgbClr val="333333"/>
                </a:solidFill>
              </a:rPr>
              <a:t> around OR efficiency — driven by surgeon demand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Medical Director sees</a:t>
            </a:r>
            <a:r>
              <a:rPr sz="1700">
                <a:solidFill>
                  <a:srgbClr val="333333"/>
                </a:solidFill>
              </a:rPr>
              <a:t> which metrics surgeons care about most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Result:</a:t>
            </a:r>
            <a:r>
              <a:rPr sz="1700">
                <a:solidFill>
                  <a:srgbClr val="333333"/>
                </a:solidFill>
              </a:rPr>
              <a:t> a richer, more useful system built from actual clinical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FCOTS Flywheel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4688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Start:   1 certified metric (FCOTS)</a:t>
            </a:r>
            <a:br/>
            <a:br/>
            <a:r>
              <a:t>Month 1: Surgeons start asking</a:t>
            </a:r>
            <a:br/>
            <a:r>
              <a:t>         about delay reasons</a:t>
            </a:r>
            <a:br/>
            <a:br/>
            <a:r>
              <a:t>Month 3: 5 related OR efficiency</a:t>
            </a:r>
            <a:br/>
            <a:r>
              <a:t>         metrics certified</a:t>
            </a:r>
            <a:br/>
            <a:br/>
            <a:r>
              <a:t>Month 6: Full OR efficiency suite</a:t>
            </a:r>
            <a:br/>
            <a:r>
              <a:t>         built from surgeon demand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33333"/>
                </a:solidFill>
              </a:defRPr>
            </a:pPr>
            <a:r>
              <a:t>THE GROWING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</a:defRPr>
            </a:pPr>
            <a:r>
              <a:t>Governance as a Byproduct of 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The Knowledge Base Grows From Demand, Not Committees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Month over month, your certified metrics expand: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Month 1:   50    Seed from existing reports &amp; queries</a:t>
            </a:r>
            <a:br/>
            <a:br/>
            <a:r>
              <a:t>Month 3:   80    User questions add 30 new certified metrics</a:t>
            </a:r>
            <a:br/>
            <a:br/>
            <a:r>
              <a:t>Month 6:  140    Steward queue drives 60 more certifications</a:t>
            </a:r>
            <a:br/>
            <a:br/>
            <a:r>
              <a:t>Month 12: 250+   Flywheel matures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Traditional governance: ~50 definitions/year.  Demand-driven: 250+ and accelerating.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Why the Flywheel Accelerates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More certified metrics</a:t>
            </a:r>
            <a:r>
              <a:rPr sz="1700">
                <a:solidFill>
                  <a:srgbClr val="333333"/>
                </a:solidFill>
              </a:rPr>
              <a:t> = more questions the agent can answer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More answers</a:t>
            </a:r>
            <a:r>
              <a:rPr sz="1700">
                <a:solidFill>
                  <a:srgbClr val="333333"/>
                </a:solidFill>
              </a:rPr>
              <a:t> = more people trust and adopt the agent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More users</a:t>
            </a:r>
            <a:r>
              <a:rPr sz="1700">
                <a:solidFill>
                  <a:srgbClr val="333333"/>
                </a:solidFill>
              </a:rPr>
              <a:t> = more questions — both known and new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More new questions</a:t>
            </a:r>
            <a:r>
              <a:rPr sz="1700">
                <a:solidFill>
                  <a:srgbClr val="333333"/>
                </a:solidFill>
              </a:rPr>
              <a:t> = more steward certifications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More certifications</a:t>
            </a:r>
            <a:r>
              <a:rPr sz="1700">
                <a:solidFill>
                  <a:srgbClr val="333333"/>
                </a:solidFill>
              </a:rPr>
              <a:t> = even more metrics the agent knows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Each cycle is faster.</a:t>
            </a:r>
            <a:r>
              <a:rPr sz="1700">
                <a:solidFill>
                  <a:srgbClr val="333333"/>
                </a:solidFill>
              </a:rPr>
              <a:t> The foundation compounds.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Coverage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0116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Week 1:</a:t>
            </a:r>
            <a:r>
              <a:rPr sz="1600">
                <a:solidFill>
                  <a:srgbClr val="333333"/>
                </a:solidFill>
              </a:rPr>
              <a:t> most questions are new ("I don't have that yet")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Month 3:</a:t>
            </a:r>
            <a:r>
              <a:rPr sz="1600">
                <a:solidFill>
                  <a:srgbClr val="333333"/>
                </a:solidFill>
              </a:rPr>
              <a:t> 80% of questions get instant answers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Month 12:</a:t>
            </a:r>
            <a:r>
              <a:rPr sz="1600">
                <a:solidFill>
                  <a:srgbClr val="333333"/>
                </a:solidFill>
              </a:rPr>
              <a:t> 95% instant answers (comprehensive knowledge base)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Steward workload</a:t>
            </a:r>
            <a:r>
              <a:rPr sz="1600">
                <a:solidFill>
                  <a:srgbClr val="333333"/>
                </a:solidFill>
              </a:rPr>
              <a:t> decreases over time as coverage grows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33333"/>
                </a:solidFill>
              </a:defRPr>
            </a:pPr>
            <a:r>
              <a:t>DELIVERING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</a:defRPr>
            </a:pPr>
            <a:r>
              <a:t>Self-Service + Dashboards, Together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Self-Service + Dashboards: Not Either/Or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The Data Agent doesn't replace dashboards — it eliminates the wait for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Self-Service (Data Agent)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Ask any question, get an answer in seconds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No IT ticket, no backlog, no waiting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Each user sees only what they're authorized to see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Every answer is grounded in certified logic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Usage patterns tell you what people actually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Dashboards (Power BI)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Recurring KPIs and executive views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Built from the same certified knowledge base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Numbers always match the agent's answers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Prioritized by what users actually ask for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- High-demand metrics get promoted to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When a metric gets asked 100+ times, that's your signal to build a dashboard.</a:t>
            </a:r>
            <a:br/>
            <a:r>
              <a:t>Usage drives prioritization. No more guessing which reports to build.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33333"/>
                </a:solidFill>
              </a:defRPr>
            </a:pPr>
            <a:r>
              <a:t>MEASURING THE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</a:defRPr>
            </a:pPr>
            <a:r>
              <a:t>ROI That Compounds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Measuring Impact: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Knowledge Base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50 -&gt; 250+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Certified metrics grow</a:t>
            </a:r>
            <a:br/>
            <a:r>
              <a:t>from actual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Instant Answer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40% -&gt; 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More questions answered</a:t>
            </a:r>
            <a:br/>
            <a:r>
              <a:t>on the 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Time to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Weeks -&gt;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No more waiting for IT</a:t>
            </a:r>
            <a:br/>
            <a:r>
              <a:t>to build a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Steward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10x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Demand-driven reviews</a:t>
            </a:r>
            <a:br/>
            <a:r>
              <a:t>not committee 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Every number improves with time — the flywheel compounds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Measuring Impact: The Before &amp;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"Which LOS number is right?"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- 3 analysts, 3 different answers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- 6-week backlog for a new report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Governance = a committee that meets monthly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New metrics require a project proposal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Nobody knows what's been asked 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"Here's the certified ER LOS — asked 347 times this quarter"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One metric, one definition, traceable to source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Ad-hoc answers in seconds, dashboards for top metrics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Governance happens automatically from usage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New metrics certified in days via steward review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- Usage data shows exactly what the organization cares about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Start with what you have.</a:t>
            </a:r>
            <a:r>
              <a:rPr sz="1700">
                <a:solidFill>
                  <a:srgbClr val="333333"/>
                </a:solidFill>
              </a:rPr>
              <a:t> Your existing reports and queries already contain the business logic. Extract it at scale — don't start from scratch.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"I don't know" is a feature, not a failure.</a:t>
            </a:r>
            <a:r>
              <a:rPr sz="1700">
                <a:solidFill>
                  <a:srgbClr val="333333"/>
                </a:solidFill>
              </a:rPr>
              <a:t> In healthcare, a wrong answer is worse than no answer. And "I don't know" triggers the process that fills the gap.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Let usage drive prioritization.</a:t>
            </a:r>
            <a:r>
              <a:rPr sz="1700">
                <a:solidFill>
                  <a:srgbClr val="333333"/>
                </a:solidFill>
              </a:rPr>
              <a:t> Don't guess which metrics matter — let the question volume tell you. Build dashboards for what people actually ask about.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Make governance invisible.</a:t>
            </a:r>
            <a:r>
              <a:rPr sz="1700">
                <a:solidFill>
                  <a:srgbClr val="333333"/>
                </a:solidFill>
              </a:rPr>
              <a:t> If people have to stop working to do governance, they won't. Make it a byproduct of asking questions.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Security enables trust.</a:t>
            </a:r>
            <a:r>
              <a:rPr sz="1700">
                <a:solidFill>
                  <a:srgbClr val="333333"/>
                </a:solidFill>
              </a:rPr>
              <a:t> When surgeons can only see their own data, they trust the system and use it more — which makes it grow faster.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333333"/>
                </a:solidFill>
              </a:rPr>
              <a:t>The flywheel compounds.</a:t>
            </a:r>
            <a:r>
              <a:rPr sz="1700">
                <a:solidFill>
                  <a:srgbClr val="333333"/>
                </a:solidFill>
              </a:rPr>
              <a:t> Early investment pays exponential returns. Month 12 looks nothing like month 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1. Your existing reports are an untapped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</a:defRPr>
            </a:pPr>
            <a:r>
              <a:t>The business logic is already there — extract it at scale to seed your certified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2. Usage is the best governance signal you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</a:defRPr>
            </a:pPr>
            <a:r>
              <a:t>Every question reinforces a known metric or surfaces a new one — both make the system better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3. Self-service and governance can be the same 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</a:defRPr>
            </a:pPr>
            <a:r>
              <a:t>When asking a question IS the governance process, everyone participates without even knowing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4. The full circle compounds over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</a:defRPr>
            </a:pPr>
            <a:r>
              <a:t>From FCOTS to a full OR efficiency suite — demand-driven growth that accelerates itself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33333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666666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</a:defRPr>
            </a:pPr>
            <a:r>
              <a:t>Sunny Zheng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HDAA Annual Conference  |  November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