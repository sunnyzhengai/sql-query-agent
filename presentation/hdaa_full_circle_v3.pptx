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6400800" cy="64008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74320"/>
            <a:ext cx="5120640" cy="5120640"/>
          </a:xfrm>
          <a:prstGeom prst="ellipse">
            <a:avLst/>
          </a:prstGeom>
          <a:solidFill>
            <a:srgbClr val="284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36576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DB6AC"/>
                </a:solidFill>
                <a:latin typeface="Calibri"/>
              </a:defRPr>
            </a:pPr>
            <a:r>
              <a:t>The Full Circle: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From SQL Chaos to</a:t>
            </a:r>
            <a:br/>
            <a:r>
              <a:t>Self-Service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How Every User Question Builds Your Certified Data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Sunny Zheng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HDAA Annual Conference  | 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About the Speaker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BI Management Leader</a:t>
            </a:r>
            <a:r>
              <a:rPr sz="2000">
                <a:solidFill>
                  <a:srgbClr val="FFFFFF"/>
                </a:solidFill>
                <a:latin typeface="Calibri"/>
              </a:rPr>
              <a:t> in Healthcare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Deep expertise</a:t>
            </a:r>
            <a:r>
              <a:rPr sz="2000">
                <a:solidFill>
                  <a:srgbClr val="FFFFFF"/>
                </a:solidFill>
                <a:latin typeface="Calibri"/>
              </a:rPr>
              <a:t> in SQL, data warehousing, and business logic governance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Microsoft Fabric ecosystem</a:t>
            </a:r>
            <a:r>
              <a:rPr sz="2000">
                <a:solidFill>
                  <a:srgbClr val="FFFFFF"/>
                </a:solidFill>
                <a:latin typeface="Calibri"/>
              </a:rPr>
              <a:t> — Notebooks, Data Agent, Power BI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Building AI-powered</a:t>
            </a:r>
            <a:r>
              <a:rPr sz="2000">
                <a:solidFill>
                  <a:srgbClr val="FFFFFF"/>
                </a:solidFill>
                <a:latin typeface="Calibri"/>
              </a:rPr>
              <a:t> data governance tooling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Passionate about</a:t>
            </a:r>
            <a:r>
              <a:rPr sz="2000">
                <a:solidFill>
                  <a:srgbClr val="FFFFFF"/>
                </a:solidFill>
                <a:latin typeface="Calibri"/>
              </a:rPr>
              <a:t> making governance a byproduct of work, not a separate chore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11480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A2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7432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1,000+ SQL queries</a:t>
            </a:r>
            <a:br/>
            <a:r>
              <a:t>Business logic buried in code</a:t>
            </a:r>
            <a:br/>
            <a:r>
              <a:t>Governance is a separate process</a:t>
            </a:r>
            <a:br/>
            <a:r>
              <a:t>The more we govern, the slower we move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1.</a:t>
            </a:r>
            <a:r>
              <a:rPr sz="2000">
                <a:solidFill>
                  <a:srgbClr val="FFFFFF"/>
                </a:solidFill>
                <a:latin typeface="Calibri"/>
              </a:rPr>
              <a:t> The Problem: Governance That Doesn't Scale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2.</a:t>
            </a:r>
            <a:r>
              <a:rPr sz="2000">
                <a:solidFill>
                  <a:srgbClr val="FFFFFF"/>
                </a:solidFill>
                <a:latin typeface="Calibri"/>
              </a:rPr>
              <a:t> The Idea: What If Usage Drove Governance?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3.</a:t>
            </a:r>
            <a:r>
              <a:rPr sz="2000">
                <a:solidFill>
                  <a:srgbClr val="FFFFFF"/>
                </a:solidFill>
                <a:latin typeface="Calibri"/>
              </a:rPr>
              <a:t> Seed: Extract Logic from Existing SQL at Scale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4.</a:t>
            </a:r>
            <a:r>
              <a:rPr sz="2000">
                <a:solidFill>
                  <a:srgbClr val="FFFFFF"/>
                </a:solidFill>
                <a:latin typeface="Calibri"/>
              </a:rPr>
              <a:t> The Flywheel: Ask, Answer, Certify, Grow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5.</a:t>
            </a:r>
            <a:r>
              <a:rPr sz="2000">
                <a:solidFill>
                  <a:srgbClr val="FFFFFF"/>
                </a:solidFill>
                <a:latin typeface="Calibri"/>
              </a:rPr>
              <a:t> Path A: Known Logic — Reinforce &amp; Weight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6.</a:t>
            </a:r>
            <a:r>
              <a:rPr sz="2000">
                <a:solidFill>
                  <a:srgbClr val="FFFFFF"/>
                </a:solidFill>
                <a:latin typeface="Calibri"/>
              </a:rPr>
              <a:t> Path B: Unknown Logic — Steward Certification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7.</a:t>
            </a:r>
            <a:r>
              <a:rPr sz="2000">
                <a:solidFill>
                  <a:srgbClr val="FFFFFF"/>
                </a:solidFill>
                <a:latin typeface="Calibri"/>
              </a:rPr>
              <a:t> The Growing Graph: Governance as a Byproduct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8.</a:t>
            </a:r>
            <a:r>
              <a:rPr sz="2000">
                <a:solidFill>
                  <a:srgbClr val="FFFFFF"/>
                </a:solidFill>
                <a:latin typeface="Calibri"/>
              </a:rPr>
              <a:t> Delivering Value: Agent, Reports, or Both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9.</a:t>
            </a:r>
            <a:r>
              <a:rPr sz="2000">
                <a:solidFill>
                  <a:srgbClr val="FFFFFF"/>
                </a:solidFill>
                <a:latin typeface="Calibri"/>
              </a:rPr>
              <a:t> Measuring the Flywheel: ROI That Compounds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10.</a:t>
            </a:r>
            <a:r>
              <a:rPr sz="2000">
                <a:solidFill>
                  <a:srgbClr val="FFFFFF"/>
                </a:solidFill>
                <a:latin typeface="Calibri"/>
              </a:rPr>
              <a:t> Lessons Learned &amp;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Problem: Governance That Doesn't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DB6AC"/>
                </a:solidFill>
                <a:latin typeface="Calibri"/>
              </a:defRPr>
            </a:pPr>
            <a:r>
              <a:t>The traditional governance model is broken: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Business logic lives in 1,000+ SQL queries across teams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Governance is a separate, manual process — committees, spreadsheets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The more you govern, the slower your analysts work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So governance falls behind, terms go stale, trust erodes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Data models built without alignment to certified definitions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Result: governance and value are opponents, not partners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A2F"/>
                </a:solidFill>
                <a:latin typeface="Calibri"/>
              </a:defRPr>
            </a:pPr>
            <a:r>
              <a:t>The Vicious Cycle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256032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Governance is slow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306324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Users bypass it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56616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Definitions go stale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06908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Trust declines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57200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More governance imposed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57575"/>
                </a:solidFill>
                <a:latin typeface="Calibri"/>
              </a:defRPr>
            </a:pPr>
            <a:r>
              <a:t>(repeat forever)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Idea: What If Usage Drove Governance?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if every question a user asks</a:t>
            </a:r>
            <a:br/>
            <a:r>
              <a:t>makes your governance better?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017520"/>
            <a:ext cx="64008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Instead of governance being a gate users pass through,</a:t>
            </a:r>
            <a:br/>
            <a:r>
              <a:t>governance becomes a graph that grows from demand.</a:t>
            </a:r>
            <a:br/>
            <a:br/>
            <a:r>
              <a:t>Every question either reinforces what we know</a:t>
            </a:r>
            <a:br/>
            <a:r>
              <a:t>or surfaces what we don't — and triggers certification.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Governance is no longer a chore. It's a byproduct of people doing their jobs.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Step 1: SEED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Extract Logic from Existing SQL at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Seed: Mining Your Existing SQL for Business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You already have the raw material — your 1,000+ queries contain the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Parse SQL at scale</a:t>
            </a:r>
            <a:r>
              <a:rPr sz="1800">
                <a:solidFill>
                  <a:srgbClr val="FFFFFF"/>
                </a:solidFill>
                <a:latin typeface="Calibri"/>
              </a:rPr>
              <a:t> — decompose queries into CTE steps, table/column references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Extract logic fragments</a:t>
            </a:r>
            <a:r>
              <a:rPr sz="1800">
                <a:solidFill>
                  <a:srgbClr val="FFFFFF"/>
                </a:solidFill>
                <a:latin typeface="Calibri"/>
              </a:rPr>
              <a:t> — minimal, composable snippets per transformation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Auto-generate candidate terms</a:t>
            </a:r>
            <a:r>
              <a:rPr sz="1800">
                <a:solidFill>
                  <a:srgbClr val="FFFFFF"/>
                </a:solidFill>
                <a:latin typeface="Calibri"/>
              </a:rPr>
              <a:t> — LLM drafts business-friendly names and definitions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Developer batch-review</a:t>
            </a:r>
            <a:r>
              <a:rPr sz="1800">
                <a:solidFill>
                  <a:srgbClr val="FFFFFF"/>
                </a:solidFill>
                <a:latin typeface="Calibri"/>
              </a:rPr>
              <a:t> — technical accuracy check before steward handoff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Steward certification</a:t>
            </a:r>
            <a:r>
              <a:rPr sz="1800">
                <a:solidFill>
                  <a:srgbClr val="FFFFFF"/>
                </a:solidFill>
                <a:latin typeface="Calibri"/>
              </a:rPr>
              <a:t> — approve, reject, or modify each term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Result:</a:t>
            </a:r>
            <a:r>
              <a:rPr sz="1800">
                <a:solidFill>
                  <a:srgbClr val="FFFFFF"/>
                </a:solidFill>
                <a:latin typeface="Calibri"/>
              </a:rPr>
              <a:t> an initial certified graph of your most-used business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84632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Example: One query yields...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E0A0"/>
                </a:solidFill>
                <a:latin typeface="Consolas"/>
              </a:defRPr>
            </a:pPr>
            <a:r>
              <a:t>Query: get_er_los.sql</a:t>
            </a:r>
            <a:br/>
            <a:br/>
            <a:r>
              <a:t>  2 CTE steps extracted</a:t>
            </a:r>
            <a:br/>
            <a:r>
              <a:t>  3 table references found</a:t>
            </a:r>
            <a:br/>
            <a:r>
              <a:t>  10 column references mapped</a:t>
            </a:r>
            <a:br/>
            <a:r>
              <a:t>  1 candidate business metric:</a:t>
            </a:r>
            <a:br/>
            <a:r>
              <a:t>    "ER Length of Stay"</a:t>
            </a:r>
            <a:br/>
            <a:br/>
            <a:r>
              <a:t>  -&gt; Sent to steward for</a:t>
            </a:r>
            <a:br/>
            <a:r>
              <a:t>     certification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Seed: The Three-Layer Certified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731520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4630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CANONICAL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Certified business metrics (e.g., ER Length of Stay)</a:t>
            </a:r>
            <a:br/>
            <a:r>
              <a:t>Owners: Steward + Developer  |  Weighted by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926080"/>
            <a:ext cx="7315200" cy="109728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0175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TRANSFORMATION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8328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Logic pipeline steps (CTE fragments)</a:t>
            </a:r>
            <a:br/>
            <a:r>
              <a:t>Composable, versionable, auditable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480560"/>
            <a:ext cx="7315200" cy="1097280"/>
          </a:xfrm>
          <a:prstGeom prst="roundRect">
            <a:avLst/>
          </a:prstGeom>
          <a:solidFill>
            <a:srgbClr val="006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5720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TECHNICAL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93776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Physical tables + columns</a:t>
            </a:r>
            <a:br/>
            <a:r>
              <a:t>Enriched with data dictionary descriptions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60720" y="2468880"/>
            <a:ext cx="365760" cy="457200"/>
          </a:xfrm>
          <a:prstGeom prst="downArrow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760720" y="4023360"/>
            <a:ext cx="365760" cy="457200"/>
          </a:xfrm>
          <a:prstGeom prst="downArrow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1645920" cy="731520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800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DIMENSION</a:t>
            </a:r>
            <a:br/>
            <a:r>
              <a:t>NODES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828800" y="4937760"/>
            <a:ext cx="640080" cy="274320"/>
          </a:xfrm>
          <a:prstGeom prst="rightArrow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7A2F"/>
                </a:solidFill>
                <a:latin typeface="Calibri"/>
              </a:defRPr>
            </a:pPr>
            <a:r>
              <a:t>This is the starting point. What makes it a "full circle" is what happens next — when users start asking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Step 2: 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Ask, Answer, Certify, Grow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Flywheel: Every Question Strengthens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228600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508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ASKS</a:t>
            </a:r>
            <a:br/>
            <a:r>
              <a:t>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26080"/>
            <a:ext cx="2286000" cy="118872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3063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  <a:br/>
            <a:r>
              <a:t>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572000"/>
            <a:ext cx="2286000" cy="11887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709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GRAPH</a:t>
            </a:r>
            <a:br/>
            <a:r>
              <a:t>GROWS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2286000" cy="1188720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063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  <a:br/>
            <a:r>
              <a:t>IMPROVES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1920240"/>
            <a:ext cx="109728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052560" y="4114800"/>
            <a:ext cx="365760" cy="54864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3566160" y="4937760"/>
            <a:ext cx="1097280" cy="365760"/>
          </a:xfrm>
          <a:prstGeom prst="lef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2194560" y="1828800"/>
            <a:ext cx="365760" cy="548640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9260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88"/>
                </a:solidFill>
                <a:latin typeface="Calibri"/>
              </a:defRPr>
            </a:pPr>
            <a:r>
              <a:t>FULL</a:t>
            </a:r>
            <a:br/>
            <a:r>
              <a:t>CIRCLE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Calibri"/>
              </a:defRPr>
            </a:pPr>
            <a:r>
              <a:t>No governance committees. No spreadsheets. The graph grows because people use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Two Paths: Every Question Has a Destination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When a user asks the Data Agent a question, one of two things happens: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38404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PATH A: Logic Exists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017520"/>
            <a:ext cx="4114800" cy="25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Agent finds a certified path in the graph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Answers the question with full lineage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Adds weight to that metric node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Usage count increases, priority rises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Most-asked metrics become visible to leadership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029200" cy="38404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A2F"/>
                </a:solidFill>
                <a:latin typeface="Calibri"/>
              </a:defRPr>
            </a:pPr>
            <a:r>
              <a:t>PATH B: Logic Doesn't Exist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017520"/>
            <a:ext cx="4114800" cy="254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91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Agent says "I don't know" (the right answer)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Triggers a notification to the steward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Steward reviews and certifies the new term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New node added to the certified graph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Next time anyone asks, Path A handles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Both paths make the system better. There is no wasted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Path A: KNOWN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Reinforce &amp; Weight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Path A: When the Answer Already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The certified graph has the answer — and every query makes it stronger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User asks:</a:t>
            </a:r>
            <a:r>
              <a:rPr sz="1800">
                <a:solidFill>
                  <a:srgbClr val="FFFFFF"/>
                </a:solidFill>
                <a:latin typeface="Calibri"/>
              </a:rPr>
              <a:t> "What is the average ER length of stay?"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Agent traverses</a:t>
            </a:r>
            <a:r>
              <a:rPr sz="1800">
                <a:solidFill>
                  <a:srgbClr val="FFFFFF"/>
                </a:solidFill>
                <a:latin typeface="Calibri"/>
              </a:rPr>
              <a:t> the certified graph to find ER_LOS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Answers with lineage:</a:t>
            </a:r>
            <a:r>
              <a:rPr sz="1800">
                <a:solidFill>
                  <a:srgbClr val="FFFFFF"/>
                </a:solidFill>
                <a:latin typeface="Calibri"/>
              </a:rPr>
              <a:t> which tables, which logic, which steward certified it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Increments usage weight</a:t>
            </a:r>
            <a:r>
              <a:rPr sz="1800">
                <a:solidFill>
                  <a:srgbClr val="FFFFFF"/>
                </a:solidFill>
                <a:latin typeface="Calibri"/>
              </a:rPr>
              <a:t> on the ER_LOS canonical node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Over time:</a:t>
            </a:r>
            <a:r>
              <a:rPr sz="1800">
                <a:solidFill>
                  <a:srgbClr val="FFFFFF"/>
                </a:solidFill>
                <a:latin typeface="Calibri"/>
              </a:rPr>
              <a:t> most-used metrics float to the top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Leadership sees</a:t>
            </a:r>
            <a:r>
              <a:rPr sz="1800">
                <a:solidFill>
                  <a:srgbClr val="FFFFFF"/>
                </a:solidFill>
                <a:latin typeface="Calibri"/>
              </a:rPr>
              <a:t> which metrics the organization actually cares about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Usage-Weighted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365760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560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ER Length of Stay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347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54680"/>
            <a:ext cx="320040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30-Day Readmission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154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289 queries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749040"/>
            <a:ext cx="228600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749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Bed Turnover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156 queries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343400"/>
            <a:ext cx="164592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Patient Satisfaction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343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98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937760"/>
            <a:ext cx="91440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4937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Surgical Site Infection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42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577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B6AC"/>
                </a:solidFill>
                <a:latin typeface="Calibri"/>
              </a:defRPr>
            </a:pPr>
            <a:r>
              <a:t>Usage data tells you where to invest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Path A: Usage Patterns Tell a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High-weight metrics</a:t>
            </a:r>
            <a:r>
              <a:rPr sz="1800">
                <a:solidFill>
                  <a:srgbClr val="FFFFFF"/>
                </a:solidFill>
                <a:latin typeface="Calibri"/>
              </a:rPr>
              <a:t> = organizational priorities. These deserve dashboards.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Trending metrics</a:t>
            </a:r>
            <a:r>
              <a:rPr sz="1800">
                <a:solidFill>
                  <a:srgbClr val="FFFFFF"/>
                </a:solidFill>
                <a:latin typeface="Calibri"/>
              </a:rPr>
              <a:t> = emerging concerns. Something changed in operations.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Seasonal patterns</a:t>
            </a:r>
            <a:r>
              <a:rPr sz="1800">
                <a:solidFill>
                  <a:srgbClr val="FFFFFF"/>
                </a:solidFill>
                <a:latin typeface="Calibri"/>
              </a:rPr>
              <a:t> = predictable demand. Pre-build reports for known cycles.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Cross-department queries</a:t>
            </a:r>
            <a:r>
              <a:rPr sz="1800">
                <a:solidFill>
                  <a:srgbClr val="FFFFFF"/>
                </a:solidFill>
                <a:latin typeface="Calibri"/>
              </a:rPr>
              <a:t> = shared definitions needed. Alignment opportunity.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Declining metrics</a:t>
            </a:r>
            <a:r>
              <a:rPr sz="1800">
                <a:solidFill>
                  <a:srgbClr val="FFFFFF"/>
                </a:solidFill>
                <a:latin typeface="Calibri"/>
              </a:rPr>
              <a:t> = may be stale. Flag for steward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Smart Prioritization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603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Before:</a:t>
            </a:r>
            <a:r>
              <a:rPr sz="1600">
                <a:solidFill>
                  <a:srgbClr val="FFFFFF"/>
                </a:solidFill>
                <a:latin typeface="Calibri"/>
              </a:rPr>
              <a:t> IT guesses which reports to build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After:</a:t>
            </a:r>
            <a:r>
              <a:rPr sz="1600">
                <a:solidFill>
                  <a:srgbClr val="FFFFFF"/>
                </a:solidFill>
                <a:latin typeface="Calibri"/>
              </a:rPr>
              <a:t> usage data tells you exactly
what users need most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Result:</a:t>
            </a:r>
            <a:r>
              <a:rPr sz="1600">
                <a:solidFill>
                  <a:srgbClr val="FFFFFF"/>
                </a:solidFill>
                <a:latin typeface="Calibri"/>
              </a:rPr>
              <a:t> invest in the metrics that
matter, retire the ones that don't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7A2F"/>
                </a:solidFill>
                <a:latin typeface="Calibri"/>
              </a:defRPr>
            </a:pPr>
            <a:r>
              <a:t>The graph doesn't just store definitions — it captures demand signals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Path B: UNKNOWN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Discover, Certify, Grow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Path B: "I Don't Know" Is the Most Valuable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When no certified path exists, the agent doesn't guess — it triggers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011680" cy="1828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423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User asks a question</a:t>
            </a:r>
            <a:br/>
            <a:r>
              <a:t>the graph can't answer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301752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286000"/>
            <a:ext cx="2011680" cy="1828800"/>
          </a:xfrm>
          <a:prstGeom prst="round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2423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Agent responds:</a:t>
            </a:r>
            <a:br/>
            <a:r>
              <a:t>"I don't know yet"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301752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011680" cy="1828800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2423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Notification sent to</a:t>
            </a:r>
            <a:br/>
            <a:r>
              <a:t>data steward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0880" y="301752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2286000"/>
            <a:ext cx="2011680" cy="18288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2423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Steward reviews and</a:t>
            </a:r>
            <a:br/>
            <a:r>
              <a:t>certifies the logic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3017520"/>
            <a:ext cx="27432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2286000"/>
            <a:ext cx="2011680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242316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New certified node</a:t>
            </a:r>
            <a:br/>
            <a:r>
              <a:t>added to the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Next time anyone asks the same question, Path A handles it automatically.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757575"/>
                </a:solidFill>
                <a:latin typeface="Calibri"/>
              </a:defRPr>
            </a:pPr>
            <a:r>
              <a:t>In healthcare, a wrong answer is worse than no answer.</a:t>
            </a:r>
            <a:br/>
            <a:r>
              <a:t>"I don't know" protects patients AND triggers the process that fills the gap.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Path B: What the Steward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Contextual alert:</a:t>
            </a:r>
            <a:r>
              <a:rPr sz="1800">
                <a:solidFill>
                  <a:srgbClr val="FFFFFF"/>
                </a:solidFill>
                <a:latin typeface="Calibri"/>
              </a:rPr>
              <a:t> "A user asked about [X] and we have no certified definition"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Suggested definition</a:t>
            </a:r>
            <a:r>
              <a:rPr sz="1800">
                <a:solidFill>
                  <a:srgbClr val="FFFFFF"/>
                </a:solidFill>
                <a:latin typeface="Calibri"/>
              </a:rPr>
              <a:t> — LLM drafts a business term from the question context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Source query attached</a:t>
            </a:r>
            <a:r>
              <a:rPr sz="1800">
                <a:solidFill>
                  <a:srgbClr val="FFFFFF"/>
                </a:solidFill>
                <a:latin typeface="Calibri"/>
              </a:rPr>
              <a:t> — the SQL that would need to answer it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Developer pre-reviews</a:t>
            </a:r>
            <a:r>
              <a:rPr sz="1800">
                <a:solidFill>
                  <a:srgbClr val="FFFFFF"/>
                </a:solidFill>
                <a:latin typeface="Calibri"/>
              </a:rPr>
              <a:t> technical accuracy of the proposed logic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Steward certifies</a:t>
            </a:r>
            <a:r>
              <a:rPr sz="1800">
                <a:solidFill>
                  <a:srgbClr val="FFFFFF"/>
                </a:solidFill>
                <a:latin typeface="Calibri"/>
              </a:rPr>
              <a:t> the business meaning: approve, reject, or modify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Graph updated instantly</a:t>
            </a:r>
            <a:r>
              <a:rPr sz="1800">
                <a:solidFill>
                  <a:srgbClr val="FFFFFF"/>
                </a:solidFill>
                <a:latin typeface="Calibri"/>
              </a:rPr>
              <a:t> — certified node is live for all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Two-Stage Certification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560320"/>
            <a:ext cx="365760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Stage 1: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Does the SQL compute correctly?</a:t>
            </a:r>
            <a:br/>
            <a:r>
              <a:t>Right tables, right logic?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961120" y="3749039"/>
            <a:ext cx="274320" cy="27432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4114800"/>
            <a:ext cx="3657600" cy="1188720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4206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Stage 2: Steward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572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Is this the right business definition?</a:t>
            </a:r>
            <a:br/>
            <a:r>
              <a:t>Approved for enterprise use?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GROWING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Governance as a Byproduct of 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Graph Grows From Demand, Not From Committees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B6AC"/>
                </a:solidFill>
                <a:latin typeface="Calibri"/>
              </a:defRPr>
            </a:pPr>
            <a:r>
              <a:t>Month over month, the certified graph expands: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754880"/>
            <a:ext cx="1828800" cy="91440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4206240"/>
            <a:ext cx="1828800" cy="1463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108960"/>
            <a:ext cx="1828800" cy="2560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1828800" cy="3657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7A2F"/>
                </a:solidFill>
                <a:latin typeface="Calibri"/>
              </a:defRPr>
            </a:pPr>
            <a:r>
              <a:t>Traditional governance: ~50 terms/year.  Flywheel governance: 250+ and accelerating.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Network Effects: Why the Flywheel Accelerates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certified terms</a:t>
            </a:r>
            <a:r>
              <a:rPr sz="1800">
                <a:solidFill>
                  <a:srgbClr val="FFFFFF"/>
                </a:solidFill>
                <a:latin typeface="Calibri"/>
              </a:rPr>
              <a:t> = more questions the agent can answer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answers</a:t>
            </a:r>
            <a:r>
              <a:rPr sz="1800">
                <a:solidFill>
                  <a:srgbClr val="FFFFFF"/>
                </a:solidFill>
                <a:latin typeface="Calibri"/>
              </a:rPr>
              <a:t> = more users trust and adopt the agent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users</a:t>
            </a:r>
            <a:r>
              <a:rPr sz="1800">
                <a:solidFill>
                  <a:srgbClr val="FFFFFF"/>
                </a:solidFill>
                <a:latin typeface="Calibri"/>
              </a:rPr>
              <a:t> = more questions (both known and unknown)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unknown questions</a:t>
            </a:r>
            <a:r>
              <a:rPr sz="1800">
                <a:solidFill>
                  <a:srgbClr val="FFFFFF"/>
                </a:solidFill>
                <a:latin typeface="Calibri"/>
              </a:rPr>
              <a:t> = more steward certifications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certifications</a:t>
            </a:r>
            <a:r>
              <a:rPr sz="1800">
                <a:solidFill>
                  <a:srgbClr val="FFFFFF"/>
                </a:solidFill>
                <a:latin typeface="Calibri"/>
              </a:rPr>
              <a:t> = even more certified terms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graph compounds.</a:t>
            </a:r>
            <a:r>
              <a:rPr sz="1800">
                <a:solidFill>
                  <a:srgbClr val="FFFFFF"/>
                </a:solidFill>
                <a:latin typeface="Calibri"/>
              </a:rPr>
              <a:t> Each cycle is faster than the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38912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Compounding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6032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Week 1:</a:t>
            </a:r>
            <a:r>
              <a:rPr sz="1600">
                <a:solidFill>
                  <a:srgbClr val="FFFFFF"/>
                </a:solidFill>
                <a:latin typeface="Calibri"/>
              </a:rPr>
              <a:t> 60% of questions hit Path B
("I don't know")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Month 3:</a:t>
            </a:r>
            <a:r>
              <a:rPr sz="1600">
                <a:solidFill>
                  <a:srgbClr val="FFFFFF"/>
                </a:solidFill>
                <a:latin typeface="Calibri"/>
              </a:rPr>
              <a:t> 80% hit Path A
(known logic, instant answers)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Month 12:</a:t>
            </a:r>
            <a:r>
              <a:rPr sz="1600">
                <a:solidFill>
                  <a:srgbClr val="FFFFFF"/>
                </a:solidFill>
                <a:latin typeface="Calibri"/>
              </a:rPr>
              <a:t> 95% hit Path A
(comprehensive certified graph)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Steward workload</a:t>
            </a:r>
            <a:r>
              <a:rPr sz="1600">
                <a:solidFill>
                  <a:srgbClr val="FFFFFF"/>
                </a:solidFill>
                <a:latin typeface="Calibri"/>
              </a:rPr>
              <a:t> decreases over time
as coverage grows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DELIVERING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Agent, Reports, or Both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Delivering Value: Agent + Reports, Not Either/Or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The Data Agent doesn't replace reports — it eliminates the wait for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47472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Data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Ad-hoc questions, answered instantly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No IT backlog, no ticket, no wait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Exploration and discovery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Answers grounded in certified logic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Usage data feeds the flywheel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47472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7A2F"/>
                </a:solidFill>
                <a:latin typeface="Calibri"/>
              </a:defRPr>
            </a:pPr>
            <a:r>
              <a:t>Power BI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Recurring KPIs and executive dashboards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Built on the same certified graph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Numbers always match the agent's answers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Prioritized by agent usage data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High-weight metrics promoted to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757575"/>
                </a:solidFill>
                <a:latin typeface="Calibri"/>
              </a:defRPr>
            </a:pPr>
            <a:r>
              <a:t>When a metric gets asked 100+ times through the Agent, that's your signal to build a dashboard.</a:t>
            </a:r>
            <a:br/>
            <a:r>
              <a:t>Usage drives prioritization. No more guessing which reports to build.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MEASURING 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ROI That Compounds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Measuring Value: Quantitative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Graph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50 -&gt; 250+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Certified metrics</a:t>
            </a:r>
            <a:br/>
            <a:r>
              <a:t>grow from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Path A</a:t>
            </a:r>
            <a:br/>
            <a:r>
              <a:t>Hit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40% -&gt; 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More questions</a:t>
            </a:r>
            <a:br/>
            <a:r>
              <a:t>answered instantly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Time to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Days -&gt;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IT backlog</a:t>
            </a:r>
            <a:br/>
            <a:r>
              <a:t>for ad-hoc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Steward</a:t>
            </a:r>
            <a:br/>
            <a:r>
              <a:t>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Demand-driven</a:t>
            </a:r>
            <a:br/>
            <a:r>
              <a:t>not committee-driven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Calibri"/>
              </a:defRPr>
            </a:pPr>
            <a:r>
              <a:t>Every metric improves with time — the flywheel compounds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Measuring Value: The Before &amp; After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7A2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4754880" cy="254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"Which LOS number is right?"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3 analysts, 3 different answers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6-week backlog for a new report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Governance = a committee that meets monthly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New metrics require a project proposal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Nobody knows what's been asked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88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4754880" cy="25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"Here's the certified ER LOS — asked 347 times"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One metric, one definition, traceable to source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Ad-hoc answers in seconds, dashboards for top metrics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Governance happens automatically from usage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New metrics certified in days via steward queue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Usage data shows exactly what the org cares about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Start with extraction, not governance.</a:t>
            </a:r>
            <a:r>
              <a:rPr sz="1800">
                <a:solidFill>
                  <a:srgbClr val="FFFFFF"/>
                </a:solidFill>
                <a:latin typeface="Calibri"/>
              </a:rPr>
              <a:t> You can't govern what you haven't documented. Mine your existing SQL first — the logic is already there.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"I don't know" is a feature, not a failure.</a:t>
            </a:r>
            <a:r>
              <a:rPr sz="1800">
                <a:solidFill>
                  <a:srgbClr val="FFFFFF"/>
                </a:solidFill>
                <a:latin typeface="Calibri"/>
              </a:rPr>
              <a:t> In healthcare, a wrong answer is worse than no answer. And "I don't know" triggers the process that fills the gap.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Let usage drive prioritization.</a:t>
            </a:r>
            <a:r>
              <a:rPr sz="1800">
                <a:solidFill>
                  <a:srgbClr val="FFFFFF"/>
                </a:solidFill>
                <a:latin typeface="Calibri"/>
              </a:rPr>
              <a:t> Don't guess which metrics matter — let the question volume tell you. Build dashboards for what people actually ask.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Governance should be invisible.</a:t>
            </a:r>
            <a:r>
              <a:rPr sz="1800">
                <a:solidFill>
                  <a:srgbClr val="FFFFFF"/>
                </a:solidFill>
                <a:latin typeface="Calibri"/>
              </a:rPr>
              <a:t> If people have to stop working to do governance, they won't. Make governance a byproduct of asking questions.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Two-stage certification is non-negotiable.</a:t>
            </a:r>
            <a:r>
              <a:rPr sz="1800">
                <a:solidFill>
                  <a:srgbClr val="FFFFFF"/>
                </a:solidFill>
                <a:latin typeface="Calibri"/>
              </a:rPr>
              <a:t> Developer checks the SQL. Steward checks the business meaning. Both must pass. This is how you get 100% accuracy.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flywheel compounds.</a:t>
            </a:r>
            <a:r>
              <a:rPr sz="1800">
                <a:solidFill>
                  <a:srgbClr val="FFFFFF"/>
                </a:solidFill>
                <a:latin typeface="Calibri"/>
              </a:rPr>
              <a:t> Early investment in the seed graph pays exponential returns. Month 12 looks nothing like month 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Your SQL queries are an untapped governance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Extract the logic at scale — the business definitions are already embedded in your code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07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Usage is the best governance signal you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Every question reinforces a known metric or surfaces an unknown one — both make the system better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"I don't know" is the trigger, not the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Unknown questions automatically initiate steward certification — governance grows from demand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6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full circle compounds over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From 40% coverage in week 1 to 95% in month 12 — the flywheel accelerates itself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914400"/>
            <a:ext cx="5486400" cy="54864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554480"/>
            <a:ext cx="4206240" cy="4206240"/>
          </a:xfrm>
          <a:prstGeom prst="ellipse">
            <a:avLst/>
          </a:prstGeom>
          <a:solidFill>
            <a:srgbClr val="284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36576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4DB6A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Sunny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HDAA Annual Conference  |  November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88"/>
                </a:solidFill>
                <a:latin typeface="Calibri"/>
              </a:defRPr>
            </a:pPr>
            <a:r>
              <a:t>github.com/sunnyzhengai/sql-query-agent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