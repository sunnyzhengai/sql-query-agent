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0" y="-914400"/>
            <a:ext cx="6400800" cy="6400800"/>
          </a:xfrm>
          <a:prstGeom prst="ellipse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-274320"/>
            <a:ext cx="5120640" cy="5120640"/>
          </a:xfrm>
          <a:prstGeom prst="ellipse">
            <a:avLst/>
          </a:prstGeom>
          <a:solidFill>
            <a:srgbClr val="2845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4023360"/>
            <a:ext cx="3657600" cy="508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4DB6AC"/>
                </a:solidFill>
                <a:latin typeface="Calibri"/>
              </a:defRPr>
            </a:pPr>
            <a:r>
              <a:t>The Full Circle: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From SQL Chaos to</a:t>
            </a:r>
            <a:br/>
            <a:r>
              <a:t>Self-Service AI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DB6AC"/>
                </a:solidFill>
                <a:latin typeface="Calibri"/>
              </a:defRPr>
            </a:pPr>
            <a:r>
              <a:t>How Every User Question Builds Your Certified Data Foundation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1206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Sunny Zheng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5778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57575"/>
                </a:solidFill>
                <a:latin typeface="Calibri"/>
              </a:defRPr>
            </a:pPr>
            <a:r>
              <a:t>HDAA Annual Conference  |  November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About the Speaker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FF7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2000">
                <a:solidFill>
                  <a:srgbClr val="009688"/>
                </a:solidFill>
                <a:latin typeface="Calibri"/>
              </a:rPr>
              <a:t>▸ </a:t>
            </a:r>
            <a:r>
              <a:rPr sz="2000" b="1">
                <a:solidFill>
                  <a:srgbClr val="FFFFFF"/>
                </a:solidFill>
                <a:latin typeface="Calibri"/>
              </a:rPr>
              <a:t>BI Management Leader</a:t>
            </a:r>
            <a:r>
              <a:rPr sz="2000">
                <a:solidFill>
                  <a:srgbClr val="FFFFFF"/>
                </a:solidFill>
                <a:latin typeface="Calibri"/>
              </a:rPr>
              <a:t> in Healthcare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2000">
                <a:solidFill>
                  <a:srgbClr val="009688"/>
                </a:solidFill>
                <a:latin typeface="Calibri"/>
              </a:rPr>
              <a:t>▸ </a:t>
            </a:r>
            <a:r>
              <a:rPr sz="2000" b="1">
                <a:solidFill>
                  <a:srgbClr val="FFFFFF"/>
                </a:solidFill>
                <a:latin typeface="Calibri"/>
              </a:rPr>
              <a:t>15+ years</a:t>
            </a:r>
            <a:r>
              <a:rPr sz="2000">
                <a:solidFill>
                  <a:srgbClr val="FFFFFF"/>
                </a:solidFill>
                <a:latin typeface="Calibri"/>
              </a:rPr>
              <a:t> turning data into decisions for clinical and operational teams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2000">
                <a:solidFill>
                  <a:srgbClr val="009688"/>
                </a:solidFill>
                <a:latin typeface="Calibri"/>
              </a:rPr>
              <a:t>▸ </a:t>
            </a:r>
            <a:r>
              <a:rPr sz="2000" b="1">
                <a:solidFill>
                  <a:srgbClr val="FFFFFF"/>
                </a:solidFill>
                <a:latin typeface="Calibri"/>
              </a:rPr>
              <a:t>Microsoft Fabric ecosystem</a:t>
            </a:r>
            <a:r>
              <a:rPr sz="2000">
                <a:solidFill>
                  <a:srgbClr val="FFFFFF"/>
                </a:solidFill>
                <a:latin typeface="Calibri"/>
              </a:rPr>
              <a:t> — Power BI, Data Agent, Notebooks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2000">
                <a:solidFill>
                  <a:srgbClr val="009688"/>
                </a:solidFill>
                <a:latin typeface="Calibri"/>
              </a:rPr>
              <a:t>▸ </a:t>
            </a:r>
            <a:r>
              <a:rPr sz="2000" b="1">
                <a:solidFill>
                  <a:srgbClr val="FFFFFF"/>
                </a:solidFill>
                <a:latin typeface="Calibri"/>
              </a:rPr>
              <a:t>Focused on</a:t>
            </a:r>
            <a:r>
              <a:rPr sz="2000">
                <a:solidFill>
                  <a:srgbClr val="FFFFFF"/>
                </a:solidFill>
                <a:latin typeface="Calibri"/>
              </a:rPr>
              <a:t> making analytics self-service without sacrificing accuracy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2000">
                <a:solidFill>
                  <a:srgbClr val="009688"/>
                </a:solidFill>
                <a:latin typeface="Calibri"/>
              </a:rPr>
              <a:t>▸ </a:t>
            </a:r>
            <a:r>
              <a:rPr sz="2000" b="1">
                <a:solidFill>
                  <a:srgbClr val="FFFFFF"/>
                </a:solidFill>
                <a:latin typeface="Calibri"/>
              </a:rPr>
              <a:t>Passionate about</a:t>
            </a:r>
            <a:r>
              <a:rPr sz="2000">
                <a:solidFill>
                  <a:srgbClr val="FFFFFF"/>
                </a:solidFill>
                <a:latin typeface="Calibri"/>
              </a:rPr>
              <a:t> making governance disappear into the background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828800"/>
            <a:ext cx="4114800" cy="3200400"/>
          </a:xfrm>
          <a:prstGeom prst="round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0" y="21031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7A2F"/>
                </a:solidFill>
                <a:latin typeface="Calibri"/>
              </a:defRPr>
            </a:pPr>
            <a:r>
              <a:t>The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2743200"/>
            <a:ext cx="3657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Calibri"/>
              </a:defRPr>
            </a:pPr>
            <a:r>
              <a:t>1,000+ reports and queries</a:t>
            </a:r>
            <a:br/>
            <a:r>
              <a:t>Business logic buried in code</a:t>
            </a:r>
            <a:br/>
            <a:r>
              <a:t>Users waiting weeks for answers</a:t>
            </a:r>
            <a:br/>
            <a:r>
              <a:t>Governance slowing everyone down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FF7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2000">
                <a:solidFill>
                  <a:srgbClr val="FF7A2F"/>
                </a:solidFill>
                <a:latin typeface="Calibri"/>
              </a:rPr>
              <a:t>▸ </a:t>
            </a:r>
            <a:r>
              <a:rPr sz="2000" b="1">
                <a:solidFill>
                  <a:srgbClr val="FFFFFF"/>
                </a:solidFill>
                <a:latin typeface="Calibri"/>
              </a:rPr>
              <a:t>1.</a:t>
            </a:r>
            <a:r>
              <a:rPr sz="2000">
                <a:solidFill>
                  <a:srgbClr val="FFFFFF"/>
                </a:solidFill>
                <a:latin typeface="Calibri"/>
              </a:rPr>
              <a:t> The Problem: Why Governance Feels Like a Tax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2000">
                <a:solidFill>
                  <a:srgbClr val="FF7A2F"/>
                </a:solidFill>
                <a:latin typeface="Calibri"/>
              </a:rPr>
              <a:t>▸ </a:t>
            </a:r>
            <a:r>
              <a:rPr sz="2000" b="1">
                <a:solidFill>
                  <a:srgbClr val="FFFFFF"/>
                </a:solidFill>
                <a:latin typeface="Calibri"/>
              </a:rPr>
              <a:t>2.</a:t>
            </a:r>
            <a:r>
              <a:rPr sz="2000">
                <a:solidFill>
                  <a:srgbClr val="FFFFFF"/>
                </a:solidFill>
                <a:latin typeface="Calibri"/>
              </a:rPr>
              <a:t> The Idea: What If Usage Drove Governance?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2000">
                <a:solidFill>
                  <a:srgbClr val="FF7A2F"/>
                </a:solidFill>
                <a:latin typeface="Calibri"/>
              </a:rPr>
              <a:t>▸ </a:t>
            </a:r>
            <a:r>
              <a:rPr sz="2000" b="1">
                <a:solidFill>
                  <a:srgbClr val="FFFFFF"/>
                </a:solidFill>
                <a:latin typeface="Calibri"/>
              </a:rPr>
              <a:t>3.</a:t>
            </a:r>
            <a:r>
              <a:rPr sz="2000">
                <a:solidFill>
                  <a:srgbClr val="FFFFFF"/>
                </a:solidFill>
                <a:latin typeface="Calibri"/>
              </a:rPr>
              <a:t> Building the Foundation: From Existing SQL to a Certified Knowledge Base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2000">
                <a:solidFill>
                  <a:srgbClr val="FF7A2F"/>
                </a:solidFill>
                <a:latin typeface="Calibri"/>
              </a:rPr>
              <a:t>▸ </a:t>
            </a:r>
            <a:r>
              <a:rPr sz="2000" b="1">
                <a:solidFill>
                  <a:srgbClr val="FFFFFF"/>
                </a:solidFill>
                <a:latin typeface="Calibri"/>
              </a:rPr>
              <a:t>4.</a:t>
            </a:r>
            <a:r>
              <a:rPr sz="2000">
                <a:solidFill>
                  <a:srgbClr val="FFFFFF"/>
                </a:solidFill>
                <a:latin typeface="Calibri"/>
              </a:rPr>
              <a:t> The Flywheel: Ask, Answer, Certify, Grow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2000">
                <a:solidFill>
                  <a:srgbClr val="FF7A2F"/>
                </a:solidFill>
                <a:latin typeface="Calibri"/>
              </a:rPr>
              <a:t>▸ </a:t>
            </a:r>
            <a:r>
              <a:rPr sz="2000" b="1">
                <a:solidFill>
                  <a:srgbClr val="FFFFFF"/>
                </a:solidFill>
                <a:latin typeface="Calibri"/>
              </a:rPr>
              <a:t>5.</a:t>
            </a:r>
            <a:r>
              <a:rPr sz="2000">
                <a:solidFill>
                  <a:srgbClr val="FFFFFF"/>
                </a:solidFill>
                <a:latin typeface="Calibri"/>
              </a:rPr>
              <a:t> Case Study: First Case On Time Start (FCOTS)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2000">
                <a:solidFill>
                  <a:srgbClr val="FF7A2F"/>
                </a:solidFill>
                <a:latin typeface="Calibri"/>
              </a:rPr>
              <a:t>▸ </a:t>
            </a:r>
            <a:r>
              <a:rPr sz="2000" b="1">
                <a:solidFill>
                  <a:srgbClr val="FFFFFF"/>
                </a:solidFill>
                <a:latin typeface="Calibri"/>
              </a:rPr>
              <a:t>6.</a:t>
            </a:r>
            <a:r>
              <a:rPr sz="2000">
                <a:solidFill>
                  <a:srgbClr val="FFFFFF"/>
                </a:solidFill>
                <a:latin typeface="Calibri"/>
              </a:rPr>
              <a:t> The Growing Knowledge Base: Governance as a Byproduct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2000">
                <a:solidFill>
                  <a:srgbClr val="FF7A2F"/>
                </a:solidFill>
                <a:latin typeface="Calibri"/>
              </a:rPr>
              <a:t>▸ </a:t>
            </a:r>
            <a:r>
              <a:rPr sz="2000" b="1">
                <a:solidFill>
                  <a:srgbClr val="FFFFFF"/>
                </a:solidFill>
                <a:latin typeface="Calibri"/>
              </a:rPr>
              <a:t>7.</a:t>
            </a:r>
            <a:r>
              <a:rPr sz="2000">
                <a:solidFill>
                  <a:srgbClr val="FFFFFF"/>
                </a:solidFill>
                <a:latin typeface="Calibri"/>
              </a:rPr>
              <a:t> Delivering Value: Self-Service + Dashboards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2000">
                <a:solidFill>
                  <a:srgbClr val="FF7A2F"/>
                </a:solidFill>
                <a:latin typeface="Calibri"/>
              </a:rPr>
              <a:t>▸ </a:t>
            </a:r>
            <a:r>
              <a:rPr sz="2000" b="1">
                <a:solidFill>
                  <a:srgbClr val="FFFFFF"/>
                </a:solidFill>
                <a:latin typeface="Calibri"/>
              </a:rPr>
              <a:t>8.</a:t>
            </a:r>
            <a:r>
              <a:rPr sz="2000">
                <a:solidFill>
                  <a:srgbClr val="FFFFFF"/>
                </a:solidFill>
                <a:latin typeface="Calibri"/>
              </a:rPr>
              <a:t> Measuring the Impact: ROI That Compounds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2000">
                <a:solidFill>
                  <a:srgbClr val="FF7A2F"/>
                </a:solidFill>
                <a:latin typeface="Calibri"/>
              </a:rPr>
              <a:t>▸ </a:t>
            </a:r>
            <a:r>
              <a:rPr sz="2000" b="1">
                <a:solidFill>
                  <a:srgbClr val="FFFFFF"/>
                </a:solidFill>
                <a:latin typeface="Calibri"/>
              </a:rPr>
              <a:t>9.</a:t>
            </a:r>
            <a:r>
              <a:rPr sz="2000">
                <a:solidFill>
                  <a:srgbClr val="FFFFFF"/>
                </a:solidFill>
                <a:latin typeface="Calibri"/>
              </a:rPr>
              <a:t> Lessons Learned &amp; Q&amp;A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The Problem: Why Governance Feels Like a Tax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FF7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DB6AC"/>
                </a:solidFill>
                <a:latin typeface="Calibri"/>
              </a:defRPr>
            </a:pPr>
            <a:r>
              <a:t>Sound familiar?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009688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"Can you pull me the readmission rate?" — 6-week backlog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009688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Three analysts run the same metric, get three answers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009688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Governance team creates definitions nobody uses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009688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The more you govern, the slower everyone moves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009688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So governance falls behind, definitions go stale, trust erodes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009688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Result: governance and getting work done feel like opposites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1645920"/>
            <a:ext cx="4572000" cy="4114800"/>
          </a:xfrm>
          <a:prstGeom prst="round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0" y="182880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7A2F"/>
                </a:solidFill>
                <a:latin typeface="Calibri"/>
              </a:defRPr>
            </a:pPr>
            <a:r>
              <a:t>The Vicious Cycle</a:t>
            </a:r>
          </a:p>
        </p:txBody>
      </p:sp>
      <p:sp>
        <p:nvSpPr>
          <p:cNvPr id="9" name="Oval 8"/>
          <p:cNvSpPr/>
          <p:nvPr/>
        </p:nvSpPr>
        <p:spPr>
          <a:xfrm>
            <a:off x="7315200" y="2560320"/>
            <a:ext cx="274320" cy="274320"/>
          </a:xfrm>
          <a:prstGeom prst="ellipse">
            <a:avLst/>
          </a:prstGeom>
          <a:solidFill>
            <a:srgbClr val="FF7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2560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Governance is slow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0" y="3063240"/>
            <a:ext cx="274320" cy="274320"/>
          </a:xfrm>
          <a:prstGeom prst="ellipse">
            <a:avLst/>
          </a:prstGeom>
          <a:solidFill>
            <a:srgbClr val="FF7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30632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People work around it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0" y="3566160"/>
            <a:ext cx="274320" cy="274320"/>
          </a:xfrm>
          <a:prstGeom prst="ellipse">
            <a:avLst/>
          </a:prstGeom>
          <a:solidFill>
            <a:srgbClr val="FF7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35661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Definitions go stale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0" y="4069080"/>
            <a:ext cx="274320" cy="274320"/>
          </a:xfrm>
          <a:prstGeom prst="ellipse">
            <a:avLst/>
          </a:prstGeom>
          <a:solidFill>
            <a:srgbClr val="FF7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0" y="40690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Trust in data declines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0" y="4572000"/>
            <a:ext cx="274320" cy="274320"/>
          </a:xfrm>
          <a:prstGeom prst="ellipse">
            <a:avLst/>
          </a:prstGeom>
          <a:solidFill>
            <a:srgbClr val="FF7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4572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Calibri"/>
              </a:defRPr>
            </a:pPr>
            <a:r>
              <a:t>More governance imposed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5212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757575"/>
                </a:solidFill>
                <a:latin typeface="Calibri"/>
              </a:defRPr>
            </a:pPr>
            <a:r>
              <a:t>(repeat forever)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The Idea: What If Usage Drove Governance?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FF7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Calibri"/>
              </a:defRPr>
            </a:pPr>
            <a:r>
              <a:t>What if every question a user asks</a:t>
            </a:r>
            <a:br/>
            <a:r>
              <a:t>makes your data foundation stronger?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3017520"/>
            <a:ext cx="6400800" cy="381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47472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4DB6AC"/>
                </a:solidFill>
                <a:latin typeface="Calibri"/>
              </a:defRPr>
            </a:pPr>
            <a:r>
              <a:t>Instead of governance being a gate people pass through,</a:t>
            </a:r>
            <a:br/>
            <a:r>
              <a:t>it becomes a knowledge base that grows from demand.</a:t>
            </a:r>
            <a:br/>
            <a:br/>
            <a:r>
              <a:t>Every question either reinforces what we know</a:t>
            </a:r>
            <a:br/>
            <a:r>
              <a:t>or surfaces what we don't — and kicks off a review.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6692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7A2F"/>
                </a:solidFill>
                <a:latin typeface="Calibri"/>
              </a:defRPr>
            </a:pPr>
            <a:r>
              <a:t>Governance is no longer a chore. It's a byproduct of people doing their jobs.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508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BUILDING THE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4DB6AC"/>
                </a:solidFill>
                <a:latin typeface="Calibri"/>
              </a:defRPr>
            </a:pPr>
            <a:r>
              <a:t>From Existing SQL to a Certified Knowledge Base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The Foundation: Your SQL Already Contains the Answers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FF7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DB6AC"/>
                </a:solidFill>
                <a:latin typeface="Calibri"/>
              </a:defRPr>
            </a:pPr>
            <a:r>
              <a:t>You don't start from scratch — your existing queries are the raw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009688"/>
                </a:solidFill>
                <a:latin typeface="Calibri"/>
              </a:rPr>
              <a:t>▸ </a:t>
            </a:r>
            <a:r>
              <a:rPr sz="1800" b="1">
                <a:solidFill>
                  <a:srgbClr val="FFFFFF"/>
                </a:solidFill>
                <a:latin typeface="Calibri"/>
              </a:rPr>
              <a:t>Scan your existing reports and queries</a:t>
            </a:r>
            <a:r>
              <a:rPr sz="1800">
                <a:solidFill>
                  <a:srgbClr val="FFFFFF"/>
                </a:solidFill>
                <a:latin typeface="Calibri"/>
              </a:rPr>
              <a:t> — automatically extract the business logic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009688"/>
                </a:solidFill>
                <a:latin typeface="Calibri"/>
              </a:rPr>
              <a:t>▸ </a:t>
            </a:r>
            <a:r>
              <a:rPr sz="1800" b="1">
                <a:solidFill>
                  <a:srgbClr val="FFFFFF"/>
                </a:solidFill>
                <a:latin typeface="Calibri"/>
              </a:rPr>
              <a:t>AI drafts plain-English definitions</a:t>
            </a:r>
            <a:r>
              <a:rPr sz="1800">
                <a:solidFill>
                  <a:srgbClr val="FFFFFF"/>
                </a:solidFill>
                <a:latin typeface="Calibri"/>
              </a:rPr>
              <a:t> from the logic it finds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009688"/>
                </a:solidFill>
                <a:latin typeface="Calibri"/>
              </a:rPr>
              <a:t>▸ </a:t>
            </a:r>
            <a:r>
              <a:rPr sz="1800" b="1">
                <a:solidFill>
                  <a:srgbClr val="FFFFFF"/>
                </a:solidFill>
                <a:latin typeface="Calibri"/>
              </a:rPr>
              <a:t>Your team reviews in bulk</a:t>
            </a:r>
            <a:r>
              <a:rPr sz="1800">
                <a:solidFill>
                  <a:srgbClr val="FFFFFF"/>
                </a:solidFill>
                <a:latin typeface="Calibri"/>
              </a:rPr>
              <a:t> — not one definition at a time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009688"/>
                </a:solidFill>
                <a:latin typeface="Calibri"/>
              </a:rPr>
              <a:t>▸ </a:t>
            </a:r>
            <a:r>
              <a:rPr sz="1800" b="1">
                <a:solidFill>
                  <a:srgbClr val="FFFFFF"/>
                </a:solidFill>
                <a:latin typeface="Calibri"/>
              </a:rPr>
              <a:t>Stewards certify</a:t>
            </a:r>
            <a:r>
              <a:rPr sz="1800">
                <a:solidFill>
                  <a:srgbClr val="FFFFFF"/>
                </a:solidFill>
                <a:latin typeface="Calibri"/>
              </a:rPr>
              <a:t> the business meaning: approve, modify, or reject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009688"/>
                </a:solidFill>
                <a:latin typeface="Calibri"/>
              </a:rPr>
              <a:t>▸ </a:t>
            </a:r>
            <a:r>
              <a:rPr sz="1800" b="1">
                <a:solidFill>
                  <a:srgbClr val="FFFFFF"/>
                </a:solidFill>
                <a:latin typeface="Calibri"/>
              </a:rPr>
              <a:t>Result:</a:t>
            </a:r>
            <a:r>
              <a:rPr sz="1800">
                <a:solidFill>
                  <a:srgbClr val="FFFFFF"/>
                </a:solidFill>
                <a:latin typeface="Calibri"/>
              </a:rPr>
              <a:t> an initial certified knowledge base of your most-used metrics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009688"/>
                </a:solidFill>
                <a:latin typeface="Calibri"/>
              </a:rPr>
              <a:t>▸ </a:t>
            </a:r>
            <a:r>
              <a:rPr sz="1800" b="1">
                <a:solidFill>
                  <a:srgbClr val="FFFFFF"/>
                </a:solidFill>
                <a:latin typeface="Calibri"/>
              </a:rPr>
              <a:t>This is the seed.</a:t>
            </a:r>
            <a:r>
              <a:rPr sz="1800">
                <a:solidFill>
                  <a:srgbClr val="FFFFFF"/>
                </a:solidFill>
                <a:latin typeface="Calibri"/>
              </a:rPr>
              <a:t> What makes it grow is what happens next.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828800"/>
            <a:ext cx="4846320" cy="3840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920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57575"/>
                </a:solidFill>
                <a:latin typeface="Calibri"/>
              </a:defRPr>
            </a:pPr>
            <a:r>
              <a:t>Example: One report yields...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37744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E0A0"/>
                </a:solidFill>
                <a:latin typeface="Consolas"/>
              </a:defRPr>
            </a:pPr>
            <a:r>
              <a:t>Report: OR Efficiency Dashboard</a:t>
            </a:r>
            <a:br/>
            <a:br/>
            <a:r>
              <a:t>  3 business metrics found:</a:t>
            </a:r>
            <a:br/>
            <a:r>
              <a:t>    "First Case On Time Start"</a:t>
            </a:r>
            <a:br/>
            <a:r>
              <a:t>    "Turnover Time"</a:t>
            </a:r>
            <a:br/>
            <a:r>
              <a:t>    "Case Duration Accuracy"</a:t>
            </a:r>
            <a:br/>
            <a:br/>
            <a:r>
              <a:t>  Each linked to its source</a:t>
            </a:r>
            <a:br/>
            <a:r>
              <a:t>  tables and calculation logic</a:t>
            </a:r>
            <a:br/>
            <a:br/>
            <a:r>
              <a:t>  -&gt; Sent to stewards for review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The Foundation: How the Knowledge Base Is Organized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FF7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DB6AC"/>
                </a:solidFill>
                <a:latin typeface="Calibri"/>
              </a:defRPr>
            </a:pPr>
            <a:r>
              <a:t>Three layers connect business questions to source data — with full traceability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2103120"/>
            <a:ext cx="7315200" cy="109728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0" y="2194560"/>
            <a:ext cx="6766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BUSINESS 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2560320"/>
            <a:ext cx="6766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Certified definitions (e.g., First Case On Time Start)</a:t>
            </a:r>
            <a:br/>
            <a:r>
              <a:t>Owned by a steward  |  Weighted by how often people ask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3657600"/>
            <a:ext cx="7315200" cy="1097280"/>
          </a:xfrm>
          <a:prstGeom prst="round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60320" y="3749040"/>
            <a:ext cx="6766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CALCULATION LOGIC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4114800"/>
            <a:ext cx="6766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The step-by-step logic behind each metric</a:t>
            </a:r>
            <a:br/>
            <a:r>
              <a:t>Small, reusable pieces — not giant SQL blocks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86000" y="5212080"/>
            <a:ext cx="7315200" cy="1097280"/>
          </a:xfrm>
          <a:prstGeom prst="roundRect">
            <a:avLst/>
          </a:prstGeom>
          <a:solidFill>
            <a:srgbClr val="006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0" y="5303520"/>
            <a:ext cx="6766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SOURCE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5669280"/>
            <a:ext cx="6766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The actual tables, columns, and filters</a:t>
            </a:r>
            <a:br/>
            <a:r>
              <a:t>Enriched with plain-English descriptions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760720" y="3200400"/>
            <a:ext cx="365760" cy="457200"/>
          </a:xfrm>
          <a:prstGeom prst="downArrow">
            <a:avLst/>
          </a:prstGeom>
          <a:solidFill>
            <a:srgbClr val="FF7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own Arrow 15"/>
          <p:cNvSpPr/>
          <p:nvPr/>
        </p:nvSpPr>
        <p:spPr>
          <a:xfrm>
            <a:off x="5760720" y="4754880"/>
            <a:ext cx="365760" cy="457200"/>
          </a:xfrm>
          <a:prstGeom prst="downArrow">
            <a:avLst/>
          </a:prstGeom>
          <a:solidFill>
            <a:srgbClr val="FF7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508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THE FLYWHEEL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4DB6AC"/>
                </a:solidFill>
                <a:latin typeface="Calibri"/>
              </a:defRPr>
            </a:pPr>
            <a:r>
              <a:t>Ask, Answer, Certify, Grow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The Flywheel: Every Question Makes the System Smarter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FF7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754880" y="1371600"/>
            <a:ext cx="2286000" cy="118872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46320" y="150876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USER ASKS</a:t>
            </a:r>
            <a:br/>
            <a:r>
              <a:t>A QUESTION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2926080"/>
            <a:ext cx="2286000" cy="1188720"/>
          </a:xfrm>
          <a:prstGeom prst="roundRect">
            <a:avLst/>
          </a:prstGeom>
          <a:solidFill>
            <a:srgbClr val="4DB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306324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AGENT</a:t>
            </a:r>
            <a:br/>
            <a:r>
              <a:t>ANSWERS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4572000"/>
            <a:ext cx="2286000" cy="1188720"/>
          </a:xfrm>
          <a:prstGeom prst="round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470916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KNOWLEDGE</a:t>
            </a:r>
            <a:br/>
            <a:r>
              <a:t>BASE GROWS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2926080"/>
            <a:ext cx="2286000" cy="1188720"/>
          </a:xfrm>
          <a:prstGeom prst="roundRect">
            <a:avLst/>
          </a:prstGeom>
          <a:solidFill>
            <a:srgbClr val="FF7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3040" y="306324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BETTER</a:t>
            </a:r>
            <a:br/>
            <a:r>
              <a:t>ANSWERS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040880" y="1920240"/>
            <a:ext cx="1097280" cy="36576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own Arrow 13"/>
          <p:cNvSpPr/>
          <p:nvPr/>
        </p:nvSpPr>
        <p:spPr>
          <a:xfrm>
            <a:off x="9052560" y="4114800"/>
            <a:ext cx="365760" cy="548640"/>
          </a:xfrm>
          <a:prstGeom prst="downArrow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Left Arrow 14"/>
          <p:cNvSpPr/>
          <p:nvPr/>
        </p:nvSpPr>
        <p:spPr>
          <a:xfrm>
            <a:off x="3566160" y="4937760"/>
            <a:ext cx="1097280" cy="365760"/>
          </a:xfrm>
          <a:prstGeom prst="leftArrow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Up Arrow 15"/>
          <p:cNvSpPr/>
          <p:nvPr/>
        </p:nvSpPr>
        <p:spPr>
          <a:xfrm>
            <a:off x="2194560" y="1828800"/>
            <a:ext cx="365760" cy="548640"/>
          </a:xfrm>
          <a:prstGeom prst="upArrow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0" y="292608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9688"/>
                </a:solidFill>
                <a:latin typeface="Calibri"/>
              </a:defRPr>
            </a:pPr>
            <a:r>
              <a:t>FULL</a:t>
            </a:r>
            <a:br/>
            <a:r>
              <a:t>CIRCLE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757575"/>
                </a:solidFill>
                <a:latin typeface="Calibri"/>
              </a:defRPr>
            </a:pPr>
            <a:r>
              <a:t>No governance committees. No spreadsheets. The knowledge base grows because people use 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Two Paths: Every Question Has a Destination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FF7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371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4DB6AC"/>
                </a:solidFill>
                <a:latin typeface="Calibri"/>
              </a:defRPr>
            </a:pPr>
            <a:r>
              <a:t>When someone asks a question, one of two things happens: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5029200" cy="3840480"/>
          </a:xfrm>
          <a:prstGeom prst="round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9688"/>
                </a:solidFill>
                <a:latin typeface="Calibri"/>
              </a:defRPr>
            </a:pPr>
            <a:r>
              <a:t>PATH A: We Already Know This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3017520"/>
            <a:ext cx="4114800" cy="254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291840"/>
            <a:ext cx="4389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9688"/>
                </a:solidFill>
                <a:latin typeface="Calibri"/>
              </a:rPr>
              <a:t>▸ </a:t>
            </a:r>
            <a:r>
              <a:rPr sz="1600">
                <a:solidFill>
                  <a:srgbClr val="FFFFFF"/>
                </a:solidFill>
                <a:latin typeface="Calibri"/>
              </a:rPr>
              <a:t>The answer exists in the certified knowledge base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9688"/>
                </a:solidFill>
                <a:latin typeface="Calibri"/>
              </a:rPr>
              <a:t>▸ </a:t>
            </a:r>
            <a:r>
              <a:rPr sz="1600">
                <a:solidFill>
                  <a:srgbClr val="FFFFFF"/>
                </a:solidFill>
                <a:latin typeface="Calibri"/>
              </a:rPr>
              <a:t>User gets an instant, accurate answer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9688"/>
                </a:solidFill>
                <a:latin typeface="Calibri"/>
              </a:rPr>
              <a:t>▸ </a:t>
            </a:r>
            <a:r>
              <a:rPr sz="1600">
                <a:solidFill>
                  <a:srgbClr val="FFFFFF"/>
                </a:solidFill>
                <a:latin typeface="Calibri"/>
              </a:rPr>
              <a:t>The metric gains weight — it's clearly important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9688"/>
                </a:solidFill>
                <a:latin typeface="Calibri"/>
              </a:rPr>
              <a:t>▸ </a:t>
            </a:r>
            <a:r>
              <a:rPr sz="1600">
                <a:solidFill>
                  <a:srgbClr val="FFFFFF"/>
                </a:solidFill>
                <a:latin typeface="Calibri"/>
              </a:rPr>
              <a:t>Most-asked metrics become visible to leadership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9688"/>
                </a:solidFill>
                <a:latin typeface="Calibri"/>
              </a:rPr>
              <a:t>▸ </a:t>
            </a:r>
            <a:r>
              <a:rPr sz="1600">
                <a:solidFill>
                  <a:srgbClr val="FFFFFF"/>
                </a:solidFill>
                <a:latin typeface="Calibri"/>
              </a:rPr>
              <a:t>High-demand metrics get promoted to dashboards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286000"/>
            <a:ext cx="5029200" cy="3840480"/>
          </a:xfrm>
          <a:prstGeom prst="round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4688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7A2F"/>
                </a:solidFill>
                <a:latin typeface="Calibri"/>
              </a:defRPr>
            </a:pPr>
            <a:r>
              <a:t>PATH B: We Don't Know This Yet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3017520"/>
            <a:ext cx="4114800" cy="25400"/>
          </a:xfrm>
          <a:prstGeom prst="rect">
            <a:avLst/>
          </a:prstGeom>
          <a:solidFill>
            <a:srgbClr val="FF7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3291840"/>
            <a:ext cx="4389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FF7A2F"/>
                </a:solidFill>
                <a:latin typeface="Calibri"/>
              </a:rPr>
              <a:t>▸ </a:t>
            </a:r>
            <a:r>
              <a:rPr sz="1600">
                <a:solidFill>
                  <a:srgbClr val="FFFFFF"/>
                </a:solidFill>
                <a:latin typeface="Calibri"/>
              </a:rPr>
              <a:t>The agent says "I don't have that yet"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FF7A2F"/>
                </a:solidFill>
                <a:latin typeface="Calibri"/>
              </a:rPr>
              <a:t>▸ </a:t>
            </a:r>
            <a:r>
              <a:rPr sz="1600">
                <a:solidFill>
                  <a:srgbClr val="FFFFFF"/>
                </a:solidFill>
                <a:latin typeface="Calibri"/>
              </a:rPr>
              <a:t>A request is sent to the data steward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FF7A2F"/>
                </a:solidFill>
                <a:latin typeface="Calibri"/>
              </a:rPr>
              <a:t>▸ </a:t>
            </a:r>
            <a:r>
              <a:rPr sz="1600">
                <a:solidFill>
                  <a:srgbClr val="FFFFFF"/>
                </a:solidFill>
                <a:latin typeface="Calibri"/>
              </a:rPr>
              <a:t>Steward reviews and certifies the definition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FF7A2F"/>
                </a:solidFill>
                <a:latin typeface="Calibri"/>
              </a:rPr>
              <a:t>▸ </a:t>
            </a:r>
            <a:r>
              <a:rPr sz="1600">
                <a:solidFill>
                  <a:srgbClr val="FFFFFF"/>
                </a:solidFill>
                <a:latin typeface="Calibri"/>
              </a:rPr>
              <a:t>New metric added to the knowledge base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FF7A2F"/>
                </a:solidFill>
                <a:latin typeface="Calibri"/>
              </a:rPr>
              <a:t>▸ </a:t>
            </a:r>
            <a:r>
              <a:rPr sz="1600">
                <a:solidFill>
                  <a:srgbClr val="FFFFFF"/>
                </a:solidFill>
                <a:latin typeface="Calibri"/>
              </a:rPr>
              <a:t>Next time anyone asks, they get an instant answer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217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7A2F"/>
                </a:solidFill>
                <a:latin typeface="Calibri"/>
              </a:defRPr>
            </a:pPr>
            <a:r>
              <a:t>Both paths make the system better. There is no wasted question.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508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4DB6AC"/>
                </a:solidFill>
                <a:latin typeface="Calibri"/>
              </a:defRPr>
            </a:pPr>
            <a:r>
              <a:t>First Case On Time Start (FCOTS)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Case Study: First Case On Time Start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FF7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DB6AC"/>
                </a:solidFill>
                <a:latin typeface="Calibri"/>
              </a:defRPr>
            </a:pPr>
            <a:r>
              <a:t>How one certified metric helped transform surgical efficiency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009688"/>
                </a:solidFill>
                <a:latin typeface="Calibri"/>
              </a:rPr>
              <a:t>▸ </a:t>
            </a:r>
            <a:r>
              <a:rPr sz="1800" b="1">
                <a:solidFill>
                  <a:srgbClr val="FFFFFF"/>
                </a:solidFill>
                <a:latin typeface="Calibri"/>
              </a:rPr>
              <a:t>FCOTS =</a:t>
            </a:r>
            <a:r>
              <a:rPr sz="1800">
                <a:solidFill>
                  <a:srgbClr val="FFFFFF"/>
                </a:solidFill>
                <a:latin typeface="Calibri"/>
              </a:rPr>
              <a:t> % of first surgical cases that start on time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009688"/>
                </a:solidFill>
                <a:latin typeface="Calibri"/>
              </a:rPr>
              <a:t>▸ </a:t>
            </a:r>
            <a:r>
              <a:rPr sz="1800" b="1">
                <a:solidFill>
                  <a:srgbClr val="FFFFFF"/>
                </a:solidFill>
                <a:latin typeface="Calibri"/>
              </a:rPr>
              <a:t>3 years ago:</a:t>
            </a:r>
            <a:r>
              <a:rPr sz="1800">
                <a:solidFill>
                  <a:srgbClr val="FFFFFF"/>
                </a:solidFill>
                <a:latin typeface="Calibri"/>
              </a:rPr>
              <a:t> our rate was just over 20%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009688"/>
                </a:solidFill>
                <a:latin typeface="Calibri"/>
              </a:rPr>
              <a:t>▸ </a:t>
            </a:r>
            <a:r>
              <a:rPr sz="1800" b="1">
                <a:solidFill>
                  <a:srgbClr val="FFFFFF"/>
                </a:solidFill>
                <a:latin typeface="Calibri"/>
              </a:rPr>
              <a:t>Today:</a:t>
            </a:r>
            <a:r>
              <a:rPr sz="1800">
                <a:solidFill>
                  <a:srgbClr val="FFFFFF"/>
                </a:solidFill>
                <a:latin typeface="Calibri"/>
              </a:rPr>
              <a:t> we've reached 60%+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009688"/>
                </a:solidFill>
                <a:latin typeface="Calibri"/>
              </a:rPr>
              <a:t>▸ </a:t>
            </a:r>
            <a:r>
              <a:rPr sz="1800" b="1">
                <a:solidFill>
                  <a:srgbClr val="FFFFFF"/>
                </a:solidFill>
                <a:latin typeface="Calibri"/>
              </a:rPr>
              <a:t>Goal:</a:t>
            </a:r>
            <a:r>
              <a:rPr sz="1800">
                <a:solidFill>
                  <a:srgbClr val="FFFFFF"/>
                </a:solidFill>
                <a:latin typeface="Calibri"/>
              </a:rPr>
              <a:t> 90%+ on-time start rate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009688"/>
                </a:solidFill>
                <a:latin typeface="Calibri"/>
              </a:rPr>
              <a:t>▸ </a:t>
            </a:r>
            <a:r>
              <a:rPr sz="1800" b="1">
                <a:solidFill>
                  <a:srgbClr val="FFFFFF"/>
                </a:solidFill>
                <a:latin typeface="Calibri"/>
              </a:rPr>
              <a:t>Working with</a:t>
            </a:r>
            <a:r>
              <a:rPr sz="1800">
                <a:solidFill>
                  <a:srgbClr val="FFFFFF"/>
                </a:solidFill>
                <a:latin typeface="Calibri"/>
              </a:rPr>
              <a:t> the Surgery Medical Director to drive improvement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009688"/>
                </a:solidFill>
                <a:latin typeface="Calibri"/>
              </a:rPr>
              <a:t>▸ </a:t>
            </a:r>
            <a:r>
              <a:rPr sz="1800" b="1">
                <a:solidFill>
                  <a:srgbClr val="FFFFFF"/>
                </a:solidFill>
                <a:latin typeface="Calibri"/>
              </a:rPr>
              <a:t>One certified definition,</a:t>
            </a:r>
            <a:r>
              <a:rPr sz="1800">
                <a:solidFill>
                  <a:srgbClr val="FFFFFF"/>
                </a:solidFill>
                <a:latin typeface="Calibri"/>
              </a:rPr>
              <a:t> one source of truth, consistent tracking over time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1645920"/>
            <a:ext cx="4572000" cy="4572000"/>
          </a:xfrm>
          <a:prstGeom prst="round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0" y="182880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7A2F"/>
                </a:solidFill>
                <a:latin typeface="Calibri"/>
              </a:defRPr>
            </a:pPr>
            <a:r>
              <a:t>FCOTS Journey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2560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57575"/>
                </a:solidFill>
                <a:latin typeface="Calibri"/>
              </a:defRPr>
            </a:pPr>
            <a:r>
              <a:t>3 Years Ago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2880360"/>
            <a:ext cx="914400" cy="320040"/>
          </a:xfrm>
          <a:prstGeom prst="roundRect">
            <a:avLst/>
          </a:prstGeom>
          <a:solidFill>
            <a:srgbClr val="FF7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80" y="28803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7A2F"/>
                </a:solidFill>
                <a:latin typeface="Calibri"/>
              </a:defRPr>
            </a:pPr>
            <a:r>
              <a:t>20%+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3383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57575"/>
                </a:solidFill>
                <a:latin typeface="Calibri"/>
              </a:defRPr>
            </a:pPr>
            <a:r>
              <a:t>Today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3703320"/>
            <a:ext cx="2560320" cy="32004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29800" y="37033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88"/>
                </a:solidFill>
                <a:latin typeface="Calibri"/>
              </a:defRPr>
            </a:pPr>
            <a:r>
              <a:t>60%+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42062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57575"/>
                </a:solidFill>
                <a:latin typeface="Calibri"/>
              </a:defRPr>
            </a:pPr>
            <a:r>
              <a:t>Goal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0" y="4526280"/>
            <a:ext cx="3840480" cy="32004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09960" y="45262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CAF50"/>
                </a:solidFill>
                <a:latin typeface="Calibri"/>
              </a:defRPr>
            </a:pPr>
            <a:r>
              <a:t>90%+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5303520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4DB6AC"/>
                </a:solidFill>
                <a:latin typeface="Calibri"/>
              </a:defRPr>
            </a:pPr>
            <a:r>
              <a:t>This improvement was only possible</a:t>
            </a:r>
            <a:br/>
            <a:r>
              <a:t>because everyone trusted the same number.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FCOTS: Why This Metric Needs Self-Service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FF7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DB6AC"/>
                </a:solidFill>
                <a:latin typeface="Calibri"/>
              </a:defRPr>
            </a:pPr>
            <a:r>
              <a:t>The Medical Director's challenge: individual performance is sensitive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5029200" cy="2011680"/>
          </a:xfrm>
          <a:prstGeom prst="round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7A2F"/>
                </a:solidFill>
                <a:latin typeface="Calibri"/>
              </a:defRPr>
            </a:pPr>
            <a:r>
              <a:t>The Challenge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FF7A2F"/>
                </a:solidFill>
                <a:latin typeface="Calibri"/>
              </a:rPr>
              <a:t>▸ </a:t>
            </a:r>
            <a:r>
              <a:rPr sz="1600">
                <a:solidFill>
                  <a:srgbClr val="FFFFFF"/>
                </a:solidFill>
                <a:latin typeface="Calibri"/>
              </a:rPr>
              <a:t>Medical Director needs 1:1s with surgeons about their FCOTS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FF7A2F"/>
                </a:solidFill>
                <a:latin typeface="Calibri"/>
              </a:rPr>
              <a:t>▸ </a:t>
            </a:r>
            <a:r>
              <a:rPr sz="1600">
                <a:solidFill>
                  <a:srgbClr val="FFFFFF"/>
                </a:solidFill>
                <a:latin typeface="Calibri"/>
              </a:rPr>
              <a:t>Can't share a dashboard showing everyone's performance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FF7A2F"/>
                </a:solidFill>
                <a:latin typeface="Calibri"/>
              </a:rPr>
              <a:t>▸ </a:t>
            </a:r>
            <a:r>
              <a:rPr sz="1600">
                <a:solidFill>
                  <a:srgbClr val="FFFFFF"/>
                </a:solidFill>
                <a:latin typeface="Calibri"/>
              </a:rPr>
              <a:t>Individual surgeon data is sensitive — requires privacy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389120"/>
            <a:ext cx="5029200" cy="2011680"/>
          </a:xfrm>
          <a:prstGeom prst="round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5720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88"/>
                </a:solidFill>
                <a:latin typeface="Calibri"/>
              </a:defRPr>
            </a:pPr>
            <a:r>
              <a:t>The Self-Service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12064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9688"/>
                </a:solidFill>
                <a:latin typeface="Calibri"/>
              </a:rPr>
              <a:t>▸ </a:t>
            </a:r>
            <a:r>
              <a:rPr sz="1600">
                <a:solidFill>
                  <a:srgbClr val="FFFFFF"/>
                </a:solidFill>
                <a:latin typeface="Calibri"/>
              </a:rPr>
              <a:t>Surgeons ask the Data Agent: "What's my FCOTS rate?"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9688"/>
                </a:solidFill>
                <a:latin typeface="Calibri"/>
              </a:rPr>
              <a:t>▸ </a:t>
            </a:r>
            <a:r>
              <a:rPr sz="1600">
                <a:solidFill>
                  <a:srgbClr val="FFFFFF"/>
                </a:solidFill>
                <a:latin typeface="Calibri"/>
              </a:rPr>
              <a:t>Each surgeon only sees their own data — built-in security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9688"/>
                </a:solidFill>
                <a:latin typeface="Calibri"/>
              </a:rPr>
              <a:t>▸ </a:t>
            </a:r>
            <a:r>
              <a:rPr sz="1600">
                <a:solidFill>
                  <a:srgbClr val="FFFFFF"/>
                </a:solidFill>
                <a:latin typeface="Calibri"/>
              </a:rPr>
              <a:t>Medical Director sees the department-level view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828800"/>
            <a:ext cx="5029200" cy="4754880"/>
          </a:xfrm>
          <a:prstGeom prst="round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201168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88"/>
                </a:solidFill>
                <a:latin typeface="Calibri"/>
              </a:defRPr>
            </a:pPr>
            <a:r>
              <a:t>Same Metric, Right Access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74320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88"/>
                </a:solidFill>
                <a:latin typeface="Calibri"/>
              </a:defRPr>
            </a:pPr>
            <a:r>
              <a:t>Dr. Smith asks: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06324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"What's my FCOTS this month?"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38328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E0A0"/>
                </a:solidFill>
                <a:latin typeface="Calibri"/>
              </a:defRPr>
            </a:pPr>
            <a:r>
              <a:t>Answer: 78% (your cases only)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93192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DB6AC"/>
                </a:solidFill>
                <a:latin typeface="Calibri"/>
              </a:defRPr>
            </a:pPr>
            <a:r>
              <a:t>Dr. Jones asks: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25196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"What's my FCOTS this month?"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457200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E0A0"/>
                </a:solidFill>
                <a:latin typeface="Calibri"/>
              </a:defRPr>
            </a:pPr>
            <a:r>
              <a:t>Answer: 62% (your cases only)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512064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7A2F"/>
                </a:solidFill>
                <a:latin typeface="Calibri"/>
              </a:defRPr>
            </a:pPr>
            <a:r>
              <a:t>Medical Director asks: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544068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"Show me department FCOTS"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576072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E0A0"/>
                </a:solidFill>
                <a:latin typeface="Calibri"/>
              </a:defRPr>
            </a:pPr>
            <a:r>
              <a:t>Answer: 68% overall + trends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6400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7A2F"/>
                </a:solidFill>
                <a:latin typeface="Calibri"/>
              </a:defRPr>
            </a:pPr>
            <a:r>
              <a:t>One certified definition. Personalized access. No IT tickets. No privacy concerns.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FCOTS: The Full Circle in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FF7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DB6AC"/>
                </a:solidFill>
                <a:latin typeface="Calibri"/>
              </a:defRPr>
            </a:pPr>
            <a:r>
              <a:t>What happens when surgeons start using the agent regularly: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009688"/>
                </a:solidFill>
                <a:latin typeface="Calibri"/>
              </a:rPr>
              <a:t>▸ </a:t>
            </a:r>
            <a:r>
              <a:rPr sz="1800" b="1">
                <a:solidFill>
                  <a:srgbClr val="FFFFFF"/>
                </a:solidFill>
                <a:latin typeface="Calibri"/>
              </a:rPr>
              <a:t>Surgeons ask about their FCOTS</a:t>
            </a:r>
            <a:r>
              <a:rPr sz="1800">
                <a:solidFill>
                  <a:srgbClr val="FFFFFF"/>
                </a:solidFill>
                <a:latin typeface="Calibri"/>
              </a:rPr>
              <a:t> — the metric gains weight in the system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009688"/>
                </a:solidFill>
                <a:latin typeface="Calibri"/>
              </a:rPr>
              <a:t>▸ </a:t>
            </a:r>
            <a:r>
              <a:rPr sz="1800" b="1">
                <a:solidFill>
                  <a:srgbClr val="FFFFFF"/>
                </a:solidFill>
                <a:latin typeface="Calibri"/>
              </a:rPr>
              <a:t>Some ask new questions:</a:t>
            </a:r>
            <a:r>
              <a:rPr sz="1800">
                <a:solidFill>
                  <a:srgbClr val="FFFFFF"/>
                </a:solidFill>
                <a:latin typeface="Calibri"/>
              </a:rPr>
              <a:t> "What's my average delay time?" "Which rooms start late most?"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009688"/>
                </a:solidFill>
                <a:latin typeface="Calibri"/>
              </a:rPr>
              <a:t>▸ </a:t>
            </a:r>
            <a:r>
              <a:rPr sz="1800" b="1">
                <a:solidFill>
                  <a:srgbClr val="FFFFFF"/>
                </a:solidFill>
                <a:latin typeface="Calibri"/>
              </a:rPr>
              <a:t>Those questions trigger</a:t>
            </a:r>
            <a:r>
              <a:rPr sz="1800">
                <a:solidFill>
                  <a:srgbClr val="FFFFFF"/>
                </a:solidFill>
                <a:latin typeface="Calibri"/>
              </a:rPr>
              <a:t> steward review — new metrics get certified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009688"/>
                </a:solidFill>
                <a:latin typeface="Calibri"/>
              </a:rPr>
              <a:t>▸ </a:t>
            </a:r>
            <a:r>
              <a:rPr sz="1800" b="1">
                <a:solidFill>
                  <a:srgbClr val="FFFFFF"/>
                </a:solidFill>
                <a:latin typeface="Calibri"/>
              </a:rPr>
              <a:t>The knowledge base grows</a:t>
            </a:r>
            <a:r>
              <a:rPr sz="1800">
                <a:solidFill>
                  <a:srgbClr val="FFFFFF"/>
                </a:solidFill>
                <a:latin typeface="Calibri"/>
              </a:rPr>
              <a:t> around OR efficiency — driven by surgeon demand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009688"/>
                </a:solidFill>
                <a:latin typeface="Calibri"/>
              </a:rPr>
              <a:t>▸ </a:t>
            </a:r>
            <a:r>
              <a:rPr sz="1800" b="1">
                <a:solidFill>
                  <a:srgbClr val="FFFFFF"/>
                </a:solidFill>
                <a:latin typeface="Calibri"/>
              </a:rPr>
              <a:t>Medical Director sees</a:t>
            </a:r>
            <a:r>
              <a:rPr sz="1800">
                <a:solidFill>
                  <a:srgbClr val="FFFFFF"/>
                </a:solidFill>
                <a:latin typeface="Calibri"/>
              </a:rPr>
              <a:t> which metrics surgeons care about most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009688"/>
                </a:solidFill>
                <a:latin typeface="Calibri"/>
              </a:rPr>
              <a:t>▸ </a:t>
            </a:r>
            <a:r>
              <a:rPr sz="1800" b="1">
                <a:solidFill>
                  <a:srgbClr val="FFFFFF"/>
                </a:solidFill>
                <a:latin typeface="Calibri"/>
              </a:rPr>
              <a:t>Result:</a:t>
            </a:r>
            <a:r>
              <a:rPr sz="1800">
                <a:solidFill>
                  <a:srgbClr val="FFFFFF"/>
                </a:solidFill>
                <a:latin typeface="Calibri"/>
              </a:rPr>
              <a:t> a richer, more useful system built from actual clinical needs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1645920"/>
            <a:ext cx="4572000" cy="4572000"/>
          </a:xfrm>
          <a:prstGeom prst="round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0" y="182880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88"/>
                </a:solidFill>
                <a:latin typeface="Calibri"/>
              </a:defRPr>
            </a:pPr>
            <a:r>
              <a:t>FCOTS Flywheel Growth</a:t>
            </a:r>
          </a:p>
        </p:txBody>
      </p:sp>
      <p:sp>
        <p:nvSpPr>
          <p:cNvPr id="9" name="Oval 8"/>
          <p:cNvSpPr/>
          <p:nvPr/>
        </p:nvSpPr>
        <p:spPr>
          <a:xfrm>
            <a:off x="7315200" y="2606040"/>
            <a:ext cx="274320" cy="274320"/>
          </a:xfrm>
          <a:prstGeom prst="ellipse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25603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57575"/>
                </a:solidFill>
                <a:latin typeface="Calibri"/>
              </a:defRPr>
            </a:pPr>
            <a:r>
              <a:t>Start: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8346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1 certified metric</a:t>
            </a:r>
            <a:br/>
            <a:r>
              <a:t>(FCOTS)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0" y="3520440"/>
            <a:ext cx="274320" cy="27432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34747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88"/>
                </a:solidFill>
                <a:latin typeface="Calibri"/>
              </a:defRPr>
            </a:pPr>
            <a:r>
              <a:t>Month 1: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37490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Surgeons start asking</a:t>
            </a:r>
            <a:br/>
            <a:r>
              <a:t>about delay reasons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0" y="4434840"/>
            <a:ext cx="274320" cy="274320"/>
          </a:xfrm>
          <a:prstGeom prst="ellipse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0" y="43891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6A69A"/>
                </a:solidFill>
                <a:latin typeface="Calibri"/>
              </a:defRPr>
            </a:pPr>
            <a:r>
              <a:t>Month 3: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46634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5 related OR efficiency</a:t>
            </a:r>
            <a:br/>
            <a:r>
              <a:t>metrics certified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0" y="5349240"/>
            <a:ext cx="274320" cy="27432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0" y="53035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CAF50"/>
                </a:solidFill>
                <a:latin typeface="Calibri"/>
              </a:defRPr>
            </a:pPr>
            <a:r>
              <a:t>Month 6: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55778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Full OR efficiency suite</a:t>
            </a:r>
            <a:br/>
            <a:r>
              <a:t>built from surgeon demand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508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THE GROWING KNOWLEDGE 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4DB6AC"/>
                </a:solidFill>
                <a:latin typeface="Calibri"/>
              </a:defRPr>
            </a:pPr>
            <a:r>
              <a:t>Governance as a Byproduct of Work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The Knowledge Base Grows From Demand, Not Committees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FF7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DB6AC"/>
                </a:solidFill>
                <a:latin typeface="Calibri"/>
              </a:defRPr>
            </a:pPr>
            <a:r>
              <a:t>Month over month, your certified metrics expand: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4754880"/>
            <a:ext cx="1828800" cy="914400"/>
          </a:xfrm>
          <a:prstGeom prst="roundRect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846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Month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49040" y="4206240"/>
            <a:ext cx="1828800" cy="146304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40" y="42976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80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0116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Month 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3108960"/>
            <a:ext cx="1828800" cy="2560320"/>
          </a:xfrm>
          <a:prstGeom prst="roundRect">
            <a:avLst/>
          </a:prstGeom>
          <a:solidFill>
            <a:srgbClr val="26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3200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0116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Month 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2011680"/>
            <a:ext cx="1828800" cy="365760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0" y="2103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250+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20116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Month 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7A2F"/>
                </a:solidFill>
                <a:latin typeface="Calibri"/>
              </a:defRPr>
            </a:pPr>
            <a:r>
              <a:t>Traditional governance: ~50 definitions/year.  Demand-driven: 250+ and accelerating.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Why the Flywheel Accelerates Over 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FF7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009688"/>
                </a:solidFill>
                <a:latin typeface="Calibri"/>
              </a:rPr>
              <a:t>▸ </a:t>
            </a:r>
            <a:r>
              <a:rPr sz="1800" b="1">
                <a:solidFill>
                  <a:srgbClr val="FFFFFF"/>
                </a:solidFill>
                <a:latin typeface="Calibri"/>
              </a:rPr>
              <a:t>More certified metrics</a:t>
            </a:r>
            <a:r>
              <a:rPr sz="1800">
                <a:solidFill>
                  <a:srgbClr val="FFFFFF"/>
                </a:solidFill>
                <a:latin typeface="Calibri"/>
              </a:rPr>
              <a:t> = more questions the agent can answer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009688"/>
                </a:solidFill>
                <a:latin typeface="Calibri"/>
              </a:rPr>
              <a:t>▸ </a:t>
            </a:r>
            <a:r>
              <a:rPr sz="1800" b="1">
                <a:solidFill>
                  <a:srgbClr val="FFFFFF"/>
                </a:solidFill>
                <a:latin typeface="Calibri"/>
              </a:rPr>
              <a:t>More answers</a:t>
            </a:r>
            <a:r>
              <a:rPr sz="1800">
                <a:solidFill>
                  <a:srgbClr val="FFFFFF"/>
                </a:solidFill>
                <a:latin typeface="Calibri"/>
              </a:rPr>
              <a:t> = more people trust and adopt the agent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009688"/>
                </a:solidFill>
                <a:latin typeface="Calibri"/>
              </a:rPr>
              <a:t>▸ </a:t>
            </a:r>
            <a:r>
              <a:rPr sz="1800" b="1">
                <a:solidFill>
                  <a:srgbClr val="FFFFFF"/>
                </a:solidFill>
                <a:latin typeface="Calibri"/>
              </a:rPr>
              <a:t>More users</a:t>
            </a:r>
            <a:r>
              <a:rPr sz="1800">
                <a:solidFill>
                  <a:srgbClr val="FFFFFF"/>
                </a:solidFill>
                <a:latin typeface="Calibri"/>
              </a:rPr>
              <a:t> = more questions — both known and new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009688"/>
                </a:solidFill>
                <a:latin typeface="Calibri"/>
              </a:rPr>
              <a:t>▸ </a:t>
            </a:r>
            <a:r>
              <a:rPr sz="1800" b="1">
                <a:solidFill>
                  <a:srgbClr val="FFFFFF"/>
                </a:solidFill>
                <a:latin typeface="Calibri"/>
              </a:rPr>
              <a:t>More new questions</a:t>
            </a:r>
            <a:r>
              <a:rPr sz="1800">
                <a:solidFill>
                  <a:srgbClr val="FFFFFF"/>
                </a:solidFill>
                <a:latin typeface="Calibri"/>
              </a:rPr>
              <a:t> = more steward certifications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009688"/>
                </a:solidFill>
                <a:latin typeface="Calibri"/>
              </a:rPr>
              <a:t>▸ </a:t>
            </a:r>
            <a:r>
              <a:rPr sz="1800" b="1">
                <a:solidFill>
                  <a:srgbClr val="FFFFFF"/>
                </a:solidFill>
                <a:latin typeface="Calibri"/>
              </a:rPr>
              <a:t>More certifications</a:t>
            </a:r>
            <a:r>
              <a:rPr sz="1800">
                <a:solidFill>
                  <a:srgbClr val="FFFFFF"/>
                </a:solidFill>
                <a:latin typeface="Calibri"/>
              </a:rPr>
              <a:t> = even more metrics the agent knows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009688"/>
                </a:solidFill>
                <a:latin typeface="Calibri"/>
              </a:rPr>
              <a:t>▸ </a:t>
            </a:r>
            <a:r>
              <a:rPr sz="1800" b="1">
                <a:solidFill>
                  <a:srgbClr val="FFFFFF"/>
                </a:solidFill>
                <a:latin typeface="Calibri"/>
              </a:rPr>
              <a:t>Each cycle is faster.</a:t>
            </a:r>
            <a:r>
              <a:rPr sz="1800">
                <a:solidFill>
                  <a:srgbClr val="FFFFFF"/>
                </a:solidFill>
                <a:latin typeface="Calibri"/>
              </a:rPr>
              <a:t> The foundation compounds.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645920"/>
            <a:ext cx="4572000" cy="4389120"/>
          </a:xfrm>
          <a:prstGeom prst="round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0" y="182880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88"/>
                </a:solidFill>
                <a:latin typeface="Calibri"/>
              </a:defRPr>
            </a:pPr>
            <a:r>
              <a:t>Coverage Over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2560320"/>
            <a:ext cx="40233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9688"/>
                </a:solidFill>
                <a:latin typeface="Calibri"/>
              </a:rPr>
              <a:t>▸ </a:t>
            </a:r>
            <a:r>
              <a:rPr sz="1600" b="1">
                <a:solidFill>
                  <a:srgbClr val="FFFFFF"/>
                </a:solidFill>
                <a:latin typeface="Calibri"/>
              </a:rPr>
              <a:t>Week 1:</a:t>
            </a:r>
            <a:r>
              <a:rPr sz="1600">
                <a:solidFill>
                  <a:srgbClr val="FFFFFF"/>
                </a:solidFill>
                <a:latin typeface="Calibri"/>
              </a:rPr>
              <a:t> most questions are new
("I don't have that yet")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9688"/>
                </a:solidFill>
                <a:latin typeface="Calibri"/>
              </a:rPr>
              <a:t>▸ </a:t>
            </a:r>
            <a:r>
              <a:rPr sz="1600" b="1">
                <a:solidFill>
                  <a:srgbClr val="FFFFFF"/>
                </a:solidFill>
                <a:latin typeface="Calibri"/>
              </a:rPr>
              <a:t>Month 3:</a:t>
            </a:r>
            <a:r>
              <a:rPr sz="1600">
                <a:solidFill>
                  <a:srgbClr val="FFFFFF"/>
                </a:solidFill>
                <a:latin typeface="Calibri"/>
              </a:rPr>
              <a:t> 80% of questions get
instant answers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9688"/>
                </a:solidFill>
                <a:latin typeface="Calibri"/>
              </a:rPr>
              <a:t>▸ </a:t>
            </a:r>
            <a:r>
              <a:rPr sz="1600" b="1">
                <a:solidFill>
                  <a:srgbClr val="FFFFFF"/>
                </a:solidFill>
                <a:latin typeface="Calibri"/>
              </a:rPr>
              <a:t>Month 12:</a:t>
            </a:r>
            <a:r>
              <a:rPr sz="1600">
                <a:solidFill>
                  <a:srgbClr val="FFFFFF"/>
                </a:solidFill>
                <a:latin typeface="Calibri"/>
              </a:rPr>
              <a:t> 95% instant answers
(comprehensive knowledge base)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9688"/>
                </a:solidFill>
                <a:latin typeface="Calibri"/>
              </a:rPr>
              <a:t>▸ </a:t>
            </a:r>
            <a:r>
              <a:rPr sz="1600" b="1">
                <a:solidFill>
                  <a:srgbClr val="FFFFFF"/>
                </a:solidFill>
                <a:latin typeface="Calibri"/>
              </a:rPr>
              <a:t>Steward workload</a:t>
            </a:r>
            <a:r>
              <a:rPr sz="1600">
                <a:solidFill>
                  <a:srgbClr val="FFFFFF"/>
                </a:solidFill>
                <a:latin typeface="Calibri"/>
              </a:rPr>
              <a:t> decreases over time
as coverage grows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508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DELIVERING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4DB6AC"/>
                </a:solidFill>
                <a:latin typeface="Calibri"/>
              </a:defRPr>
            </a:pPr>
            <a:r>
              <a:t>Self-Service + Dashboards, Together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Self-Service + Dashboards: Not Either/Or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FF7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4DB6AC"/>
                </a:solidFill>
                <a:latin typeface="Calibri"/>
              </a:defRPr>
            </a:pPr>
            <a:r>
              <a:t>The Data Agent doesn't replace dashboards — it eliminates the wait for them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5029200" cy="3474720"/>
          </a:xfrm>
          <a:prstGeom prst="round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9688"/>
                </a:solidFill>
                <a:latin typeface="Calibri"/>
              </a:defRPr>
            </a:pPr>
            <a:r>
              <a:t>Self-Service (Data Agent)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926080"/>
            <a:ext cx="4389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9688"/>
                </a:solidFill>
                <a:latin typeface="Calibri"/>
              </a:rPr>
              <a:t>▸ </a:t>
            </a:r>
            <a:r>
              <a:rPr sz="1600">
                <a:solidFill>
                  <a:srgbClr val="FFFFFF"/>
                </a:solidFill>
                <a:latin typeface="Calibri"/>
              </a:rPr>
              <a:t>Ask any question, get an answer in seconds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9688"/>
                </a:solidFill>
                <a:latin typeface="Calibri"/>
              </a:rPr>
              <a:t>▸ </a:t>
            </a:r>
            <a:r>
              <a:rPr sz="1600">
                <a:solidFill>
                  <a:srgbClr val="FFFFFF"/>
                </a:solidFill>
                <a:latin typeface="Calibri"/>
              </a:rPr>
              <a:t>No IT ticket, no backlog, no waiting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9688"/>
                </a:solidFill>
                <a:latin typeface="Calibri"/>
              </a:rPr>
              <a:t>▸ </a:t>
            </a:r>
            <a:r>
              <a:rPr sz="1600">
                <a:solidFill>
                  <a:srgbClr val="FFFFFF"/>
                </a:solidFill>
                <a:latin typeface="Calibri"/>
              </a:rPr>
              <a:t>Each user sees only what they're authorized to see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9688"/>
                </a:solidFill>
                <a:latin typeface="Calibri"/>
              </a:rPr>
              <a:t>▸ </a:t>
            </a:r>
            <a:r>
              <a:rPr sz="1600">
                <a:solidFill>
                  <a:srgbClr val="FFFFFF"/>
                </a:solidFill>
                <a:latin typeface="Calibri"/>
              </a:rPr>
              <a:t>Every answer is grounded in certified logic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009688"/>
                </a:solidFill>
                <a:latin typeface="Calibri"/>
              </a:rPr>
              <a:t>▸ </a:t>
            </a:r>
            <a:r>
              <a:rPr sz="1600">
                <a:solidFill>
                  <a:srgbClr val="FFFFFF"/>
                </a:solidFill>
                <a:latin typeface="Calibri"/>
              </a:rPr>
              <a:t>Usage patterns tell you what people actually need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103120"/>
            <a:ext cx="5029200" cy="3474720"/>
          </a:xfrm>
          <a:prstGeom prst="round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2860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7A2F"/>
                </a:solidFill>
                <a:latin typeface="Calibri"/>
              </a:defRPr>
            </a:pPr>
            <a:r>
              <a:t>Dashboards (Power BI)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926080"/>
            <a:ext cx="4389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FF7A2F"/>
                </a:solidFill>
                <a:latin typeface="Calibri"/>
              </a:rPr>
              <a:t>▸ </a:t>
            </a:r>
            <a:r>
              <a:rPr sz="1600">
                <a:solidFill>
                  <a:srgbClr val="FFFFFF"/>
                </a:solidFill>
                <a:latin typeface="Calibri"/>
              </a:rPr>
              <a:t>Recurring KPIs and executive views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FF7A2F"/>
                </a:solidFill>
                <a:latin typeface="Calibri"/>
              </a:rPr>
              <a:t>▸ </a:t>
            </a:r>
            <a:r>
              <a:rPr sz="1600">
                <a:solidFill>
                  <a:srgbClr val="FFFFFF"/>
                </a:solidFill>
                <a:latin typeface="Calibri"/>
              </a:rPr>
              <a:t>Built from the same certified knowledge base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FF7A2F"/>
                </a:solidFill>
                <a:latin typeface="Calibri"/>
              </a:rPr>
              <a:t>▸ </a:t>
            </a:r>
            <a:r>
              <a:rPr sz="1600">
                <a:solidFill>
                  <a:srgbClr val="FFFFFF"/>
                </a:solidFill>
                <a:latin typeface="Calibri"/>
              </a:rPr>
              <a:t>Numbers always match the agent's answers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FF7A2F"/>
                </a:solidFill>
                <a:latin typeface="Calibri"/>
              </a:rPr>
              <a:t>▸ </a:t>
            </a:r>
            <a:r>
              <a:rPr sz="1600">
                <a:solidFill>
                  <a:srgbClr val="FFFFFF"/>
                </a:solidFill>
                <a:latin typeface="Calibri"/>
              </a:rPr>
              <a:t>Prioritized by what users actually ask for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600">
                <a:solidFill>
                  <a:srgbClr val="FF7A2F"/>
                </a:solidFill>
                <a:latin typeface="Calibri"/>
              </a:rPr>
              <a:t>▸ </a:t>
            </a:r>
            <a:r>
              <a:rPr sz="1600">
                <a:solidFill>
                  <a:srgbClr val="FFFFFF"/>
                </a:solidFill>
                <a:latin typeface="Calibri"/>
              </a:rPr>
              <a:t>High-demand metrics get promoted to dashboards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760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757575"/>
                </a:solidFill>
                <a:latin typeface="Calibri"/>
              </a:defRPr>
            </a:pPr>
            <a:r>
              <a:t>When a metric gets asked 100+ times, that's your signal to build a dashboard.</a:t>
            </a:r>
            <a:br/>
            <a:r>
              <a:t>Usage drives prioritization. No more guessing which reports to build.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508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MEASURING THE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4DB6AC"/>
                </a:solidFill>
                <a:latin typeface="Calibri"/>
              </a:defRPr>
            </a:pPr>
            <a:r>
              <a:t>ROI That Compounds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Measuring Impact: The Numbers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FF7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2560320" cy="3200400"/>
          </a:xfrm>
          <a:prstGeom prst="round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DB6AC"/>
                </a:solidFill>
                <a:latin typeface="Calibri"/>
              </a:defRPr>
            </a:pPr>
            <a:r>
              <a:t>Knowledge Base</a:t>
            </a:r>
            <a:br/>
            <a:r>
              <a:t>Coverage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517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7A2F"/>
                </a:solidFill>
                <a:latin typeface="Calibri"/>
              </a:defRPr>
            </a:pPr>
            <a:r>
              <a:t>50 -&gt; 250+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6576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Certified metrics</a:t>
            </a:r>
            <a:br/>
            <a:r>
              <a:t>grow from actual demand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645920"/>
            <a:ext cx="2560320" cy="3200400"/>
          </a:xfrm>
          <a:prstGeom prst="round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8288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DB6AC"/>
                </a:solidFill>
                <a:latin typeface="Calibri"/>
              </a:defRPr>
            </a:pPr>
            <a:r>
              <a:t>Instant Answer</a:t>
            </a:r>
            <a:br/>
            <a:r>
              <a:t>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6517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7A2F"/>
                </a:solidFill>
                <a:latin typeface="Calibri"/>
              </a:defRPr>
            </a:pPr>
            <a:r>
              <a:t>40% -&gt; 95%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36576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More questions</a:t>
            </a:r>
            <a:br/>
            <a:r>
              <a:t>answered on the spot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645920"/>
            <a:ext cx="2560320" cy="3200400"/>
          </a:xfrm>
          <a:prstGeom prst="round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8288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DB6AC"/>
                </a:solidFill>
                <a:latin typeface="Calibri"/>
              </a:defRPr>
            </a:pPr>
            <a:r>
              <a:t>Time to Answer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6517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7A2F"/>
                </a:solidFill>
                <a:latin typeface="Calibri"/>
              </a:defRPr>
            </a:pPr>
            <a:r>
              <a:t>Weeks -&gt; Seconds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6576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No more waiting</a:t>
            </a:r>
            <a:br/>
            <a:r>
              <a:t>for IT to build a report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1645920"/>
            <a:ext cx="2560320" cy="3200400"/>
          </a:xfrm>
          <a:prstGeom prst="roundRect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0" y="18288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DB6AC"/>
                </a:solidFill>
                <a:latin typeface="Calibri"/>
              </a:defRPr>
            </a:pPr>
            <a:r>
              <a:t>Steward</a:t>
            </a:r>
            <a:br/>
            <a:r>
              <a:t>Efficiency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26517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7A2F"/>
                </a:solidFill>
                <a:latin typeface="Calibri"/>
              </a:defRPr>
            </a:pPr>
            <a:r>
              <a:t>10x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6576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Demand-driven reviews</a:t>
            </a:r>
            <a:br/>
            <a:r>
              <a:t>not committee meetings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757575"/>
                </a:solidFill>
                <a:latin typeface="Calibri"/>
              </a:defRPr>
            </a:pPr>
            <a:r>
              <a:t>Every number improves with time — the flywheel compounds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Measuring Impact: The Before &amp; After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FF7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7A2F"/>
                </a:solidFill>
                <a:latin typeface="Calibri"/>
              </a:defRPr>
            </a:pPr>
            <a:r>
              <a:t>BEFORE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4754880" cy="25400"/>
          </a:xfrm>
          <a:prstGeom prst="rect">
            <a:avLst/>
          </a:prstGeom>
          <a:solidFill>
            <a:srgbClr val="FF7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700">
                <a:solidFill>
                  <a:srgbClr val="FF7A2F"/>
                </a:solidFill>
                <a:latin typeface="Calibri"/>
              </a:rPr>
              <a:t>▸ </a:t>
            </a:r>
            <a:r>
              <a:rPr sz="1700">
                <a:solidFill>
                  <a:srgbClr val="FFFFFF"/>
                </a:solidFill>
                <a:latin typeface="Calibri"/>
              </a:rPr>
              <a:t>"Which LOS number is right?"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700">
                <a:solidFill>
                  <a:srgbClr val="FF7A2F"/>
                </a:solidFill>
                <a:latin typeface="Calibri"/>
              </a:rPr>
              <a:t>▸ </a:t>
            </a:r>
            <a:r>
              <a:rPr sz="1700">
                <a:solidFill>
                  <a:srgbClr val="FFFFFF"/>
                </a:solidFill>
                <a:latin typeface="Calibri"/>
              </a:rPr>
              <a:t>3 analysts, 3 different answers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700">
                <a:solidFill>
                  <a:srgbClr val="FF7A2F"/>
                </a:solidFill>
                <a:latin typeface="Calibri"/>
              </a:rPr>
              <a:t>▸ </a:t>
            </a:r>
            <a:r>
              <a:rPr sz="1700">
                <a:solidFill>
                  <a:srgbClr val="FFFFFF"/>
                </a:solidFill>
                <a:latin typeface="Calibri"/>
              </a:rPr>
              <a:t>6-week backlog for a new report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700">
                <a:solidFill>
                  <a:srgbClr val="FF7A2F"/>
                </a:solidFill>
                <a:latin typeface="Calibri"/>
              </a:rPr>
              <a:t>▸ </a:t>
            </a:r>
            <a:r>
              <a:rPr sz="1700">
                <a:solidFill>
                  <a:srgbClr val="FFFFFF"/>
                </a:solidFill>
                <a:latin typeface="Calibri"/>
              </a:rPr>
              <a:t>Governance = a committee that meets monthly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700">
                <a:solidFill>
                  <a:srgbClr val="FF7A2F"/>
                </a:solidFill>
                <a:latin typeface="Calibri"/>
              </a:rPr>
              <a:t>▸ </a:t>
            </a:r>
            <a:r>
              <a:rPr sz="1700">
                <a:solidFill>
                  <a:srgbClr val="FFFFFF"/>
                </a:solidFill>
                <a:latin typeface="Calibri"/>
              </a:rPr>
              <a:t>New metrics require a project proposal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700">
                <a:solidFill>
                  <a:srgbClr val="FF7A2F"/>
                </a:solidFill>
                <a:latin typeface="Calibri"/>
              </a:rPr>
              <a:t>▸ </a:t>
            </a:r>
            <a:r>
              <a:rPr sz="1700">
                <a:solidFill>
                  <a:srgbClr val="FFFFFF"/>
                </a:solidFill>
                <a:latin typeface="Calibri"/>
              </a:rPr>
              <a:t>Nobody knows what's been asked before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9688"/>
                </a:solidFill>
                <a:latin typeface="Calibri"/>
              </a:defRPr>
            </a:pPr>
            <a:r>
              <a:t>AFTER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920240"/>
            <a:ext cx="4754880" cy="254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700">
                <a:solidFill>
                  <a:srgbClr val="009688"/>
                </a:solidFill>
                <a:latin typeface="Calibri"/>
              </a:rPr>
              <a:t>▸ </a:t>
            </a:r>
            <a:r>
              <a:rPr sz="1700">
                <a:solidFill>
                  <a:srgbClr val="FFFFFF"/>
                </a:solidFill>
                <a:latin typeface="Calibri"/>
              </a:rPr>
              <a:t>"Here's the certified ER LOS — asked 347 times this quarter"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700">
                <a:solidFill>
                  <a:srgbClr val="009688"/>
                </a:solidFill>
                <a:latin typeface="Calibri"/>
              </a:rPr>
              <a:t>▸ </a:t>
            </a:r>
            <a:r>
              <a:rPr sz="1700">
                <a:solidFill>
                  <a:srgbClr val="FFFFFF"/>
                </a:solidFill>
                <a:latin typeface="Calibri"/>
              </a:rPr>
              <a:t>One metric, one definition, traceable to source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700">
                <a:solidFill>
                  <a:srgbClr val="009688"/>
                </a:solidFill>
                <a:latin typeface="Calibri"/>
              </a:rPr>
              <a:t>▸ </a:t>
            </a:r>
            <a:r>
              <a:rPr sz="1700">
                <a:solidFill>
                  <a:srgbClr val="FFFFFF"/>
                </a:solidFill>
                <a:latin typeface="Calibri"/>
              </a:rPr>
              <a:t>Ad-hoc answers in seconds, dashboards for top metrics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700">
                <a:solidFill>
                  <a:srgbClr val="009688"/>
                </a:solidFill>
                <a:latin typeface="Calibri"/>
              </a:rPr>
              <a:t>▸ </a:t>
            </a:r>
            <a:r>
              <a:rPr sz="1700">
                <a:solidFill>
                  <a:srgbClr val="FFFFFF"/>
                </a:solidFill>
                <a:latin typeface="Calibri"/>
              </a:rPr>
              <a:t>Governance happens automatically from usage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700">
                <a:solidFill>
                  <a:srgbClr val="009688"/>
                </a:solidFill>
                <a:latin typeface="Calibri"/>
              </a:rPr>
              <a:t>▸ </a:t>
            </a:r>
            <a:r>
              <a:rPr sz="1700">
                <a:solidFill>
                  <a:srgbClr val="FFFFFF"/>
                </a:solidFill>
                <a:latin typeface="Calibri"/>
              </a:rPr>
              <a:t>New metrics certified in days via steward review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700">
                <a:solidFill>
                  <a:srgbClr val="009688"/>
                </a:solidFill>
                <a:latin typeface="Calibri"/>
              </a:rPr>
              <a:t>▸ </a:t>
            </a:r>
            <a:r>
              <a:rPr sz="1700">
                <a:solidFill>
                  <a:srgbClr val="FFFFFF"/>
                </a:solidFill>
                <a:latin typeface="Calibri"/>
              </a:rPr>
              <a:t>Usage data shows exactly what the organization cares about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Lessons Learned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FF7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009688"/>
                </a:solidFill>
                <a:latin typeface="Calibri"/>
              </a:rPr>
              <a:t>▸ </a:t>
            </a:r>
            <a:r>
              <a:rPr sz="1800" b="1">
                <a:solidFill>
                  <a:srgbClr val="FFFFFF"/>
                </a:solidFill>
                <a:latin typeface="Calibri"/>
              </a:rPr>
              <a:t>Start with what you have.</a:t>
            </a:r>
            <a:r>
              <a:rPr sz="1800">
                <a:solidFill>
                  <a:srgbClr val="FFFFFF"/>
                </a:solidFill>
                <a:latin typeface="Calibri"/>
              </a:rPr>
              <a:t> Your existing reports and queries already contain the business logic. Extract it at scale — don't start from scratch.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009688"/>
                </a:solidFill>
                <a:latin typeface="Calibri"/>
              </a:rPr>
              <a:t>▸ </a:t>
            </a:r>
            <a:r>
              <a:rPr sz="1800" b="1">
                <a:solidFill>
                  <a:srgbClr val="FFFFFF"/>
                </a:solidFill>
                <a:latin typeface="Calibri"/>
              </a:rPr>
              <a:t>"I don't know" is a feature, not a failure.</a:t>
            </a:r>
            <a:r>
              <a:rPr sz="1800">
                <a:solidFill>
                  <a:srgbClr val="FFFFFF"/>
                </a:solidFill>
                <a:latin typeface="Calibri"/>
              </a:rPr>
              <a:t> In healthcare, a wrong answer is worse than no answer. And "I don't know" triggers the process that fills the gap.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009688"/>
                </a:solidFill>
                <a:latin typeface="Calibri"/>
              </a:rPr>
              <a:t>▸ </a:t>
            </a:r>
            <a:r>
              <a:rPr sz="1800" b="1">
                <a:solidFill>
                  <a:srgbClr val="FFFFFF"/>
                </a:solidFill>
                <a:latin typeface="Calibri"/>
              </a:rPr>
              <a:t>Let usage drive prioritization.</a:t>
            </a:r>
            <a:r>
              <a:rPr sz="1800">
                <a:solidFill>
                  <a:srgbClr val="FFFFFF"/>
                </a:solidFill>
                <a:latin typeface="Calibri"/>
              </a:rPr>
              <a:t> Don't guess which metrics matter — let the question volume tell you. Build dashboards for what people actually ask about.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009688"/>
                </a:solidFill>
                <a:latin typeface="Calibri"/>
              </a:rPr>
              <a:t>▸ </a:t>
            </a:r>
            <a:r>
              <a:rPr sz="1800" b="1">
                <a:solidFill>
                  <a:srgbClr val="FFFFFF"/>
                </a:solidFill>
                <a:latin typeface="Calibri"/>
              </a:rPr>
              <a:t>Make governance invisible.</a:t>
            </a:r>
            <a:r>
              <a:rPr sz="1800">
                <a:solidFill>
                  <a:srgbClr val="FFFFFF"/>
                </a:solidFill>
                <a:latin typeface="Calibri"/>
              </a:rPr>
              <a:t> If people have to stop working to do governance, they won't. Make it a byproduct of asking questions.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009688"/>
                </a:solidFill>
                <a:latin typeface="Calibri"/>
              </a:rPr>
              <a:t>▸ </a:t>
            </a:r>
            <a:r>
              <a:rPr sz="1800" b="1">
                <a:solidFill>
                  <a:srgbClr val="FFFFFF"/>
                </a:solidFill>
                <a:latin typeface="Calibri"/>
              </a:rPr>
              <a:t>Security enables trust.</a:t>
            </a:r>
            <a:r>
              <a:rPr sz="1800">
                <a:solidFill>
                  <a:srgbClr val="FFFFFF"/>
                </a:solidFill>
                <a:latin typeface="Calibri"/>
              </a:rPr>
              <a:t> When surgeons can only see their own data, they trust the system and use it more — which makes it grow faster.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800">
                <a:solidFill>
                  <a:srgbClr val="009688"/>
                </a:solidFill>
                <a:latin typeface="Calibri"/>
              </a:rPr>
              <a:t>▸ </a:t>
            </a:r>
            <a:r>
              <a:rPr sz="1800" b="1">
                <a:solidFill>
                  <a:srgbClr val="FFFFFF"/>
                </a:solidFill>
                <a:latin typeface="Calibri"/>
              </a:rPr>
              <a:t>The flywheel compounds.</a:t>
            </a:r>
            <a:r>
              <a:rPr sz="1800">
                <a:solidFill>
                  <a:srgbClr val="FFFFFF"/>
                </a:solidFill>
                <a:latin typeface="Calibri"/>
              </a:rPr>
              <a:t> Early investment pays exponential returns. Month 12 looks nothing like month 1.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8100"/>
          </a:xfrm>
          <a:prstGeom prst="rect">
            <a:avLst/>
          </a:prstGeom>
          <a:solidFill>
            <a:srgbClr val="FF7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554480"/>
            <a:ext cx="548640" cy="54864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7276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4630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Your existing reports are an untapped asset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9202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4DB6AC"/>
                </a:solidFill>
                <a:latin typeface="Calibri"/>
              </a:defRPr>
            </a:pPr>
            <a:r>
              <a:t>The business logic is already there — extract it at scale to seed your certified knowledge base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788920"/>
            <a:ext cx="548640" cy="54864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80720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6974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Usage is the best governance signal you have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1546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4DB6AC"/>
                </a:solidFill>
                <a:latin typeface="Calibri"/>
              </a:defRPr>
            </a:pPr>
            <a:r>
              <a:t>Every question reinforces a known metric or surfaces a new one — both make the system better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023360"/>
            <a:ext cx="548640" cy="54864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04164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9319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Self-service and governance can be the same thing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3891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4DB6AC"/>
                </a:solidFill>
                <a:latin typeface="Calibri"/>
              </a:defRPr>
            </a:pPr>
            <a:r>
              <a:t>When asking a question IS the governance process, everyone participates without even knowing it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5257800"/>
            <a:ext cx="548640" cy="54864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27608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1663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The full circle compounds over 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56235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4DB6AC"/>
                </a:solidFill>
                <a:latin typeface="Calibri"/>
              </a:defRPr>
            </a:pPr>
            <a:r>
              <a:t>From FCOTS to a full OR efficiency suite — demand-driven growth that accelerates itself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772400" y="914400"/>
            <a:ext cx="5486400" cy="5486400"/>
          </a:xfrm>
          <a:prstGeom prst="ellipse">
            <a:avLst/>
          </a:prstGeom>
          <a:solidFill>
            <a:srgbClr val="22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1554480"/>
            <a:ext cx="4206240" cy="4206240"/>
          </a:xfrm>
          <a:prstGeom prst="ellipse">
            <a:avLst/>
          </a:prstGeom>
          <a:solidFill>
            <a:srgbClr val="2845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4023360"/>
            <a:ext cx="3657600" cy="508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0">
                <a:solidFill>
                  <a:srgbClr val="4DB6AC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891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Sunny Zheng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937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57575"/>
                </a:solidFill>
                <a:latin typeface="Calibri"/>
              </a:defRPr>
            </a:pPr>
            <a:r>
              <a:t>HDAA Annual Conference  |  November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